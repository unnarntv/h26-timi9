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Framhald af síðasta tíma (Loops, Functions &amp; Scope). Í dag tökum við fylki fyrir af alvöru og lærum að nota map, filter og reduce í stað þess að skrifa for-loopur sjálf.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Rifjið upp: við notuðum fylki síðast með for...of. Nú skoðum við þau sjálf. Spyrjið bekkinn hvað dyr[4] skilar áður en þið sýnið svarið.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Innkaupalistinn í síðasta tímaverkefni notaði push. Sýnið hvað pop() skilar: const sidast = tolur.pop();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Tengir við let/const/var töfluna frá síðasta tíma: þess vegna er innkaup = [] skilgreint með const þótt við push-um í það.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Objects verða tekin almennilega fyrir seinna. Hér er bara nóg til að geta notað þau í dæmunum og í Verkefni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Spyrjið: hvað myndi tolur.map((x) =&gt; x + 10) skila? En tolur.map((x) =&gt; "#" + x)?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Lagfæringin á villunni: annaðhvort (v) =&gt; v * 1.24 eða (v) =&gt; { return v * 1.24; }. Verkefni 2 spyr nemendur hvort upprunalega fylkið breytist.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Sama verð og í Verkefni 3 síðast. Biðjið nemendur að skrifa filter fyrir sléttar tölur: (x) =&gt; x % 2 === 0. Það kemur aftur í Verkefni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reduce er erfiðast af þessu. Farið hægt og farið beint í næstu glæru þar sem við rekjum okkur í gegn umferð fyrir umferð.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Látið nemendur fylla töfluna út sjálf áður en þið sýnið hana, t.d. á töflunni. Spyrjið: hvað ef upphafsgildið væri 1000?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Þetta er nákvæmlega það sem Verkefni 6 biður um, bara með hámarksverð úr input í stað 1000.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Lausnir eru í timaverkefni-svor.html. Verkefni 1–6 eru grunnurinn, 7 er fyrir þau sem klára snemma.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949920"/>
            <a:ext cx="10566400" cy="446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701701"/>
            <a:ext cx="10566400" cy="4343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949920"/>
            <a:ext cx="10566400" cy="446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701701"/>
            <a:ext cx="10566400" cy="4343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08A3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[1, 2, 3].map((x) =&gt; x * 2); // [2, 4, 6]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698625"/>
            <a:ext cx="10883392" cy="282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350"/>
              </a:lnSpc>
              <a:buNone/>
            </a:pPr>
            <a:r>
              <a:rPr lang="en-US" sz="7000" b="1" i="0" spc="-100" kern="0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Arrays,</a:t>
            </a:r>
            <a:endParaRPr lang="en-US" sz="7000" dirty="0"/>
          </a:p>
          <a:p>
            <a:pPr algn="l" indent="0" marL="0">
              <a:lnSpc>
                <a:spcPts val="7350"/>
              </a:lnSpc>
              <a:buNone/>
            </a:pPr>
            <a:r>
              <a:rPr lang="en-US" sz="7000" b="1" i="0" spc="-100" kern="0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map, filter</a:t>
            </a:r>
            <a:endParaRPr lang="en-US" sz="7000" dirty="0"/>
          </a:p>
          <a:p>
            <a:pPr algn="l" indent="0" marL="0">
              <a:lnSpc>
                <a:spcPts val="7350"/>
              </a:lnSpc>
              <a:buNone/>
            </a:pPr>
            <a:r>
              <a:rPr lang="en-US" sz="7000" b="1" i="0" spc="-100" kern="0" dirty="0">
                <a:solidFill>
                  <a:srgbClr val="F0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reduce</a:t>
            </a:r>
            <a:endParaRPr lang="en-US" sz="7000" dirty="0"/>
          </a:p>
        </p:txBody>
      </p:sp>
      <p:sp>
        <p:nvSpPr>
          <p:cNvPr id="4" name="Text 2"/>
          <p:cNvSpPr/>
          <p:nvPr/>
        </p:nvSpPr>
        <p:spPr>
          <a:xfrm>
            <a:off x="812800" y="4803775"/>
            <a:ext cx="108833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BFC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 fyrir byrjendur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2800" y="6187480"/>
            <a:ext cx="5232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TÍMI 13 · NTV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604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8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DAGSKRÁ DAGSINS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9499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Þrír hlutar og eitt verkefni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704876"/>
            <a:ext cx="2381548" cy="4337149"/>
          </a:xfrm>
          <a:prstGeom prst="roundRect">
            <a:avLst>
              <a:gd name="adj" fmla="val 4133"/>
            </a:avLst>
          </a:prstGeom>
          <a:solidFill>
            <a:srgbClr val="FDFCF9"/>
          </a:solidFill>
          <a:ln w="6350">
            <a:solidFill>
              <a:srgbClr val="E2DE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2350" y="1936651"/>
            <a:ext cx="20278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8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~40 mín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2350" y="2251571"/>
            <a:ext cx="2027862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22350" y="2645271"/>
            <a:ext cx="2027862" cy="504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Index, length, push, pop, includes og fylki af objects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56273" y="1704876"/>
            <a:ext cx="2381647" cy="4337149"/>
          </a:xfrm>
          <a:prstGeom prst="roundRect">
            <a:avLst>
              <a:gd name="adj" fmla="val 4133"/>
            </a:avLst>
          </a:prstGeom>
          <a:solidFill>
            <a:srgbClr val="FDFCF9"/>
          </a:solidFill>
          <a:ln w="6350">
            <a:solidFill>
              <a:srgbClr val="E2DE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2648" y="1936651"/>
            <a:ext cx="202796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A5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~40 mín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62648" y="2251571"/>
            <a:ext cx="2027964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forEach &amp; map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562648" y="2645271"/>
            <a:ext cx="2027964" cy="504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Láta fylkið sjá um loopuna og breyta hverju staki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4295" y="3731220"/>
            <a:ext cx="37945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Hlé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66880" y="1704876"/>
            <a:ext cx="2381548" cy="4337149"/>
          </a:xfrm>
          <a:prstGeom prst="roundRect">
            <a:avLst>
              <a:gd name="adj" fmla="val 4133"/>
            </a:avLst>
          </a:prstGeom>
          <a:solidFill>
            <a:srgbClr val="FDFCF9"/>
          </a:solidFill>
          <a:ln w="6350">
            <a:solidFill>
              <a:srgbClr val="E2DED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3255" y="1936651"/>
            <a:ext cx="20278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7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~45 mín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73255" y="2251571"/>
            <a:ext cx="202786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filter, find &amp; reduce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673255" y="2937371"/>
            <a:ext cx="2027862" cy="504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Velja úr, finna eitt og leggja saman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004002" y="1701701"/>
            <a:ext cx="2375198" cy="4343499"/>
          </a:xfrm>
          <a:prstGeom prst="roundRect">
            <a:avLst>
              <a:gd name="adj" fmla="val 4278"/>
            </a:avLst>
          </a:prstGeom>
          <a:solidFill>
            <a:srgbClr val="1C2230"/>
          </a:solidFill>
          <a:ln/>
        </p:spPr>
      </p:sp>
      <p:sp>
        <p:nvSpPr>
          <p:cNvPr id="18" name="Text 16"/>
          <p:cNvSpPr/>
          <p:nvPr/>
        </p:nvSpPr>
        <p:spPr>
          <a:xfrm>
            <a:off x="9207202" y="1930301"/>
            <a:ext cx="20278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0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 lokin · ~40 mín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207202" y="2245221"/>
            <a:ext cx="2027862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Tíma­verkefni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207202" y="2638921"/>
            <a:ext cx="2027862" cy="504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FC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Þið leysið verkefni sjálf sem blanda öllu saman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2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36984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08A3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01</a:t>
            </a:r>
            <a:endParaRPr lang="en-US" sz="2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913360"/>
            <a:ext cx="10883392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00"/>
              </a:lnSpc>
              <a:buNone/>
            </a:pPr>
            <a:r>
              <a:rPr lang="en-US" sz="8000" b="1" i="0" spc="-100" kern="0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Arrays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812800" y="4132560"/>
            <a:ext cx="108833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BFC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Einn kassi — margir hlutir.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604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8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ARRAYS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9499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Fylki: talið frá 0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338104" y="1650901"/>
            <a:ext cx="356711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B85A1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[0]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19150" y="1939131"/>
            <a:ext cx="1394619" cy="551160"/>
          </a:xfrm>
          <a:prstGeom prst="roundRect">
            <a:avLst>
              <a:gd name="adj" fmla="val 12673"/>
            </a:avLst>
          </a:prstGeom>
          <a:solidFill>
            <a:srgbClr val="FDFCF9"/>
          </a:solidFill>
          <a:ln w="12700">
            <a:solidFill>
              <a:srgbClr val="1C2230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C223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"köttur"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847023" y="1650901"/>
            <a:ext cx="356711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B85A1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[1]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328069" y="1939131"/>
            <a:ext cx="1394619" cy="551160"/>
          </a:xfrm>
          <a:prstGeom prst="roundRect">
            <a:avLst>
              <a:gd name="adj" fmla="val 12673"/>
            </a:avLst>
          </a:prstGeom>
          <a:solidFill>
            <a:srgbClr val="FDFCF9"/>
          </a:solidFill>
          <a:ln w="12700">
            <a:solidFill>
              <a:srgbClr val="1C2230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C223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"hundur"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355941" y="1650901"/>
            <a:ext cx="356711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B85A1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[2]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36988" y="1939131"/>
            <a:ext cx="1394619" cy="551160"/>
          </a:xfrm>
          <a:prstGeom prst="roundRect">
            <a:avLst>
              <a:gd name="adj" fmla="val 12673"/>
            </a:avLst>
          </a:prstGeom>
          <a:solidFill>
            <a:srgbClr val="FDFCF9"/>
          </a:solidFill>
          <a:ln w="12700">
            <a:solidFill>
              <a:srgbClr val="1C2230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C223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"hestur"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864860" y="1650901"/>
            <a:ext cx="356711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B85A1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[3]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345906" y="1939131"/>
            <a:ext cx="1394619" cy="551160"/>
          </a:xfrm>
          <a:prstGeom prst="roundRect">
            <a:avLst>
              <a:gd name="adj" fmla="val 12673"/>
            </a:avLst>
          </a:prstGeom>
          <a:solidFill>
            <a:srgbClr val="FDFCF9"/>
          </a:solidFill>
          <a:ln w="12700">
            <a:solidFill>
              <a:srgbClr val="1C2230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C223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"fiskur"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00875" y="2120801"/>
            <a:ext cx="94321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 = </a:t>
            </a:r>
            <a:r>
              <a:rPr lang="en-US" sz="1400" b="1" dirty="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2800" y="2750641"/>
            <a:ext cx="10566400" cy="2228850"/>
          </a:xfrm>
          <a:prstGeom prst="roundRect">
            <a:avLst>
              <a:gd name="adj" fmla="val 4558"/>
            </a:avLst>
          </a:prstGeom>
          <a:solidFill>
            <a:srgbClr val="1E2433"/>
          </a:solidFill>
          <a:ln/>
        </p:spPr>
        <p:txBody>
          <a:bodyPr wrap="square" lIns="249642" tIns="198842" rIns="0" bIns="173442" rtlCol="0" anchor="t">
            <a:normAutofit/>
          </a:bodyPr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F0A35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const</a:t>
            </a:r>
            <a:r>
              <a:rPr lang="en-US" sz="15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dyr = [</a:t>
            </a:r>
            <a:r>
              <a:rPr lang="en-US" sz="1500" dirty="0">
                <a:solidFill>
                  <a:srgbClr val="9BD38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"köttur"</a:t>
            </a:r>
            <a:r>
              <a:rPr lang="en-US" sz="15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, </a:t>
            </a:r>
            <a:r>
              <a:rPr lang="en-US" sz="1500" dirty="0">
                <a:solidFill>
                  <a:srgbClr val="9BD38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"hundur"</a:t>
            </a:r>
            <a:r>
              <a:rPr lang="en-US" sz="15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, </a:t>
            </a:r>
            <a:r>
              <a:rPr lang="en-US" sz="1500" dirty="0">
                <a:solidFill>
                  <a:srgbClr val="9BD38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"hestur"</a:t>
            </a:r>
            <a:r>
              <a:rPr lang="en-US" sz="15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, </a:t>
            </a:r>
            <a:r>
              <a:rPr lang="en-US" sz="1500" dirty="0">
                <a:solidFill>
                  <a:srgbClr val="9BD38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"fiskur"</a:t>
            </a:r>
            <a:r>
              <a:rPr lang="en-US" sz="15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];</a:t>
            </a: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dyr[</a:t>
            </a:r>
            <a:r>
              <a:rPr lang="en-US" sz="1500" dirty="0">
                <a:solidFill>
                  <a:srgbClr val="7FB2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</a:t>
            </a:r>
            <a:r>
              <a:rPr lang="en-US" sz="15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]                 </a:t>
            </a:r>
            <a:r>
              <a:rPr lang="en-US" sz="1500" dirty="0">
                <a:solidFill>
                  <a:srgbClr val="7D8799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"köttur"</a:t>
            </a: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dyr[</a:t>
            </a:r>
            <a:r>
              <a:rPr lang="en-US" sz="1500" dirty="0">
                <a:solidFill>
                  <a:srgbClr val="7FB2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2</a:t>
            </a:r>
            <a:r>
              <a:rPr lang="en-US" sz="15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]                 </a:t>
            </a:r>
            <a:r>
              <a:rPr lang="en-US" sz="1500" dirty="0">
                <a:solidFill>
                  <a:srgbClr val="7D8799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"hestur"</a:t>
            </a: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dyr.length             </a:t>
            </a:r>
            <a:r>
              <a:rPr lang="en-US" sz="1500" dirty="0">
                <a:solidFill>
                  <a:srgbClr val="7D8799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4</a:t>
            </a: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dyr[dyr.length - </a:t>
            </a:r>
            <a:r>
              <a:rPr lang="en-US" sz="1500" dirty="0">
                <a:solidFill>
                  <a:srgbClr val="7FB2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</a:t>
            </a:r>
            <a:r>
              <a:rPr lang="en-US" sz="15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]    </a:t>
            </a:r>
            <a:r>
              <a:rPr lang="en-US" sz="1500" dirty="0">
                <a:solidFill>
                  <a:srgbClr val="7D8799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"fiskur" (alltaf síðasta)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12800" y="5233491"/>
            <a:ext cx="10883392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3E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Fyrsta stakið er á index </a:t>
            </a:r>
            <a:r>
              <a:rPr lang="en-US" sz="1500" b="1" dirty="0">
                <a:solidFill>
                  <a:srgbClr val="3E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r>
              <a:rPr lang="en-US" sz="1500" dirty="0">
                <a:solidFill>
                  <a:srgbClr val="3E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síðasta á </a:t>
            </a:r>
            <a:r>
              <a:rPr lang="en-US" sz="1500" b="1" dirty="0">
                <a:solidFill>
                  <a:srgbClr val="3E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 − 1</a:t>
            </a:r>
            <a:r>
              <a:rPr lang="en-US" sz="1500" dirty="0">
                <a:solidFill>
                  <a:srgbClr val="3E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dyr[4] er </a:t>
            </a:r>
            <a:r>
              <a:rPr lang="en-US" sz="1500" b="1" dirty="0">
                <a:solidFill>
                  <a:srgbClr val="3E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undefined</a:t>
            </a:r>
            <a:r>
              <a:rPr lang="en-US" sz="1500" dirty="0">
                <a:solidFill>
                  <a:srgbClr val="3E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þar er ekkert.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604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8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ARRAYS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9499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Bæta við og taka af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654076"/>
            <a:ext cx="5200650" cy="1367631"/>
          </a:xfrm>
          <a:prstGeom prst="roundRect">
            <a:avLst>
              <a:gd name="adj" fmla="val 7197"/>
            </a:avLst>
          </a:prstGeom>
          <a:solidFill>
            <a:srgbClr val="FDFCF9"/>
          </a:solidFill>
          <a:ln w="6350">
            <a:solidFill>
              <a:srgbClr val="E2DE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7750" y="1860451"/>
            <a:ext cx="487921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B85A1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push(x)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47750" y="2241451"/>
            <a:ext cx="487921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Bætir </a:t>
            </a:r>
            <a:r>
              <a:rPr lang="en-US" sz="1400" b="1" dirty="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aftast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47750" y="2566491"/>
            <a:ext cx="487921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C223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[1, 2] → push(3) → [1, 2, 3]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5375" y="1654076"/>
            <a:ext cx="5200650" cy="1367631"/>
          </a:xfrm>
          <a:prstGeom prst="roundRect">
            <a:avLst>
              <a:gd name="adj" fmla="val 7197"/>
            </a:avLst>
          </a:prstGeom>
          <a:solidFill>
            <a:srgbClr val="FDFCF9"/>
          </a:solidFill>
          <a:ln w="6350">
            <a:solidFill>
              <a:srgbClr val="E2DE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7150" y="1860451"/>
            <a:ext cx="487921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B85A1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pop()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7150" y="2241451"/>
            <a:ext cx="487921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Tekur </a:t>
            </a:r>
            <a:r>
              <a:rPr lang="en-US" sz="1400" b="1" dirty="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aftasta</a:t>
            </a:r>
            <a:r>
              <a:rPr lang="en-US" sz="1400" dirty="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af og skilar því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7150" y="2566491"/>
            <a:ext cx="487921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C223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[1, 2, 3] → pop() → [1, 2]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5975" y="3180457"/>
            <a:ext cx="5200650" cy="1367631"/>
          </a:xfrm>
          <a:prstGeom prst="roundRect">
            <a:avLst>
              <a:gd name="adj" fmla="val 7197"/>
            </a:avLst>
          </a:prstGeom>
          <a:solidFill>
            <a:srgbClr val="FDFCF9"/>
          </a:solidFill>
          <a:ln w="6350">
            <a:solidFill>
              <a:srgbClr val="E2DE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47750" y="3386832"/>
            <a:ext cx="487921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B85A1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unshift(x)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47750" y="3767832"/>
            <a:ext cx="487921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Bætir </a:t>
            </a:r>
            <a:r>
              <a:rPr lang="en-US" sz="1400" b="1" dirty="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fremst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47750" y="4092873"/>
            <a:ext cx="487921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C223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[1, 2] → unshift(0) → [0, 1, 2]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75375" y="3180457"/>
            <a:ext cx="5200650" cy="1367631"/>
          </a:xfrm>
          <a:prstGeom prst="roundRect">
            <a:avLst>
              <a:gd name="adj" fmla="val 7197"/>
            </a:avLst>
          </a:prstGeom>
          <a:solidFill>
            <a:srgbClr val="FDFCF9"/>
          </a:solidFill>
          <a:ln w="6350">
            <a:solidFill>
              <a:srgbClr val="E2DE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7150" y="3386832"/>
            <a:ext cx="487921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B85A1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shift()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07150" y="3767832"/>
            <a:ext cx="487921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Tekur </a:t>
            </a:r>
            <a:r>
              <a:rPr lang="en-US" sz="1400" b="1" dirty="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fremsta</a:t>
            </a:r>
            <a:r>
              <a:rPr lang="en-US" sz="1400" dirty="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af og skilar því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7150" y="4092873"/>
            <a:ext cx="487921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C223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[0, 1, 2] → shift() → [1, 2]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2800" y="4805263"/>
            <a:ext cx="10883392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3E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Þessar fjórar breyta </a:t>
            </a:r>
            <a:r>
              <a:rPr lang="en-US" sz="1500" b="1" dirty="0">
                <a:solidFill>
                  <a:srgbClr val="3E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fylkinu sjálfu</a:t>
            </a:r>
            <a:r>
              <a:rPr lang="en-US" sz="1500" dirty="0">
                <a:solidFill>
                  <a:srgbClr val="3E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Munið það: map og filter, sem við sjáum á eftir, gera það </a:t>
            </a:r>
            <a:r>
              <a:rPr lang="en-US" sz="1500" b="1" dirty="0">
                <a:solidFill>
                  <a:srgbClr val="3E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ekki</a:t>
            </a:r>
            <a:r>
              <a:rPr lang="en-US" sz="1500" dirty="0">
                <a:solidFill>
                  <a:srgbClr val="3E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604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8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ARRAYS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9499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 þetta í fylkinu?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650901"/>
            <a:ext cx="10566400" cy="650875"/>
          </a:xfrm>
          <a:prstGeom prst="roundRect">
            <a:avLst>
              <a:gd name="adj" fmla="val 15610"/>
            </a:avLst>
          </a:prstGeom>
          <a:solidFill>
            <a:srgbClr val="1E2433"/>
          </a:solidFill>
          <a:ln/>
        </p:spPr>
        <p:txBody>
          <a:bodyPr wrap="square" lIns="249642" tIns="148042" rIns="0" bIns="122642" rtlCol="0" anchor="t">
            <a:normAutofit/>
          </a:bodyPr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F0A35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const</a:t>
            </a:r>
            <a:r>
              <a:rPr lang="en-US" sz="15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innkaup = [</a:t>
            </a:r>
            <a:r>
              <a:rPr lang="en-US" sz="1500" dirty="0">
                <a:solidFill>
                  <a:srgbClr val="9BD38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"mjólk"</a:t>
            </a:r>
            <a:r>
              <a:rPr lang="en-US" sz="15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, </a:t>
            </a:r>
            <a:r>
              <a:rPr lang="en-US" sz="1500" dirty="0">
                <a:solidFill>
                  <a:srgbClr val="9BD38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"brauð"</a:t>
            </a:r>
            <a:r>
              <a:rPr lang="en-US" sz="15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, </a:t>
            </a:r>
            <a:r>
              <a:rPr lang="en-US" sz="1500" dirty="0">
                <a:solidFill>
                  <a:srgbClr val="9BD38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"egg"</a:t>
            </a:r>
            <a:r>
              <a:rPr lang="en-US" sz="15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];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2800" y="2555776"/>
            <a:ext cx="5337048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includes: já eða nei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2906216"/>
            <a:ext cx="5181600" cy="1544241"/>
          </a:xfrm>
          <a:prstGeom prst="roundRect">
            <a:avLst>
              <a:gd name="adj" fmla="val 6579"/>
            </a:avLst>
          </a:prstGeom>
          <a:solidFill>
            <a:srgbClr val="1E2433"/>
          </a:solidFill>
          <a:ln/>
        </p:spPr>
        <p:txBody>
          <a:bodyPr wrap="square" lIns="224242" tIns="173442" rIns="84034" bIns="148042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innkaup.</a:t>
            </a:r>
            <a:r>
              <a:rPr lang="en-US" sz="1400" dirty="0">
                <a:solidFill>
                  <a:srgbClr val="E8C9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includes</a:t>
            </a:r>
            <a:r>
              <a:rPr lang="en-US" sz="14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</a:t>
            </a:r>
            <a:r>
              <a:rPr lang="en-US" sz="1400" dirty="0">
                <a:solidFill>
                  <a:srgbClr val="9BD38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"brauð"</a:t>
            </a:r>
            <a:r>
              <a:rPr lang="en-US" sz="14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)</a:t>
            </a:r>
            <a:endParaRPr lang="en-US" sz="14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7D8799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true</a:t>
            </a:r>
            <a:endParaRPr lang="en-US" sz="14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innkaup.</a:t>
            </a:r>
            <a:r>
              <a:rPr lang="en-US" sz="1400" dirty="0">
                <a:solidFill>
                  <a:srgbClr val="E8C9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includes</a:t>
            </a:r>
            <a:r>
              <a:rPr lang="en-US" sz="14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</a:t>
            </a:r>
            <a:r>
              <a:rPr lang="en-US" sz="1400" dirty="0">
                <a:solidFill>
                  <a:srgbClr val="9BD38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"ostur"</a:t>
            </a:r>
            <a:r>
              <a:rPr lang="en-US" sz="14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)</a:t>
            </a:r>
            <a:endParaRPr lang="en-US" sz="14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7D8799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false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197600" y="2555776"/>
            <a:ext cx="5337048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indexOf: hvar?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197600" y="2906216"/>
            <a:ext cx="5181600" cy="1544241"/>
          </a:xfrm>
          <a:prstGeom prst="roundRect">
            <a:avLst>
              <a:gd name="adj" fmla="val 6579"/>
            </a:avLst>
          </a:prstGeom>
          <a:solidFill>
            <a:srgbClr val="1E2433"/>
          </a:solidFill>
          <a:ln/>
        </p:spPr>
        <p:txBody>
          <a:bodyPr wrap="square" lIns="224242" tIns="173442" rIns="84034" bIns="148042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innkaup.</a:t>
            </a:r>
            <a:r>
              <a:rPr lang="en-US" sz="1400" dirty="0">
                <a:solidFill>
                  <a:srgbClr val="E8C9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indexOf</a:t>
            </a:r>
            <a:r>
              <a:rPr lang="en-US" sz="14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</a:t>
            </a:r>
            <a:r>
              <a:rPr lang="en-US" sz="1400" dirty="0">
                <a:solidFill>
                  <a:srgbClr val="9BD38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"egg"</a:t>
            </a:r>
            <a:r>
              <a:rPr lang="en-US" sz="14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)</a:t>
            </a:r>
            <a:endParaRPr lang="en-US" sz="14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7D8799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2</a:t>
            </a:r>
            <a:endParaRPr lang="en-US" sz="14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innkaup.</a:t>
            </a:r>
            <a:r>
              <a:rPr lang="en-US" sz="1400" dirty="0">
                <a:solidFill>
                  <a:srgbClr val="E8C9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indexOf</a:t>
            </a:r>
            <a:r>
              <a:rPr lang="en-US" sz="14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</a:t>
            </a:r>
            <a:r>
              <a:rPr lang="en-US" sz="1400" dirty="0">
                <a:solidFill>
                  <a:srgbClr val="9BD38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"ostur"</a:t>
            </a:r>
            <a:r>
              <a:rPr lang="en-US" sz="14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)</a:t>
            </a:r>
            <a:endParaRPr lang="en-US" sz="14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7D8799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-1 (fannst ekki)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12800" y="4704457"/>
            <a:ext cx="10883392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3E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</a:t>
            </a:r>
            <a:r>
              <a:rPr lang="en-US" sz="1500" dirty="0">
                <a:solidFill>
                  <a:srgbClr val="3E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þýðir „fannst ekki“. Í Verkefni 1 í dag notið þið </a:t>
            </a:r>
            <a:r>
              <a:rPr lang="en-US" sz="1500" b="1" dirty="0">
                <a:solidFill>
                  <a:srgbClr val="3E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includes</a:t>
            </a:r>
            <a:r>
              <a:rPr lang="en-US" sz="1500" dirty="0">
                <a:solidFill>
                  <a:srgbClr val="3E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til að sama nafnið komi ekki tvisvar.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604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8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ARRAYS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9499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 fylki má samt breytast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650901"/>
            <a:ext cx="5337048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Breyta innihaldinu: virkar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2001341"/>
            <a:ext cx="5181600" cy="1259780"/>
          </a:xfrm>
          <a:prstGeom prst="roundRect">
            <a:avLst>
              <a:gd name="adj" fmla="val 8065"/>
            </a:avLst>
          </a:prstGeom>
          <a:solidFill>
            <a:srgbClr val="1E2433"/>
          </a:solidFill>
          <a:ln/>
        </p:spPr>
        <p:txBody>
          <a:bodyPr wrap="square" lIns="224242" tIns="173442" rIns="84034" bIns="148042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F0A35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const</a:t>
            </a:r>
            <a:r>
              <a:rPr lang="en-US" sz="14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listi = [];</a:t>
            </a:r>
            <a:endParaRPr lang="en-US" sz="14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listi.</a:t>
            </a:r>
            <a:r>
              <a:rPr lang="en-US" sz="1400" dirty="0">
                <a:solidFill>
                  <a:srgbClr val="E8C9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push</a:t>
            </a:r>
            <a:r>
              <a:rPr lang="en-US" sz="14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</a:t>
            </a:r>
            <a:r>
              <a:rPr lang="en-US" sz="1400" dirty="0">
                <a:solidFill>
                  <a:srgbClr val="9BD38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"a"</a:t>
            </a:r>
            <a:r>
              <a:rPr lang="en-US" sz="14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);  </a:t>
            </a:r>
            <a:r>
              <a:rPr lang="en-US" sz="1400" dirty="0">
                <a:solidFill>
                  <a:srgbClr val="7D8799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["a"]</a:t>
            </a:r>
            <a:endParaRPr lang="en-US" sz="14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listi.</a:t>
            </a:r>
            <a:r>
              <a:rPr lang="en-US" sz="1400" dirty="0">
                <a:solidFill>
                  <a:srgbClr val="E8C9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push</a:t>
            </a:r>
            <a:r>
              <a:rPr lang="en-US" sz="14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</a:t>
            </a:r>
            <a:r>
              <a:rPr lang="en-US" sz="1400" dirty="0">
                <a:solidFill>
                  <a:srgbClr val="9BD38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"b"</a:t>
            </a:r>
            <a:r>
              <a:rPr lang="en-US" sz="14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);  </a:t>
            </a:r>
            <a:r>
              <a:rPr lang="en-US" sz="1400" dirty="0">
                <a:solidFill>
                  <a:srgbClr val="7D8799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["a", "b"]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197600" y="1650901"/>
            <a:ext cx="5337048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Skipta um fylki: VILLA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197600" y="2001341"/>
            <a:ext cx="5181600" cy="1544241"/>
          </a:xfrm>
          <a:prstGeom prst="roundRect">
            <a:avLst>
              <a:gd name="adj" fmla="val 6579"/>
            </a:avLst>
          </a:prstGeom>
          <a:solidFill>
            <a:srgbClr val="1E2433"/>
          </a:solidFill>
          <a:ln/>
        </p:spPr>
        <p:txBody>
          <a:bodyPr wrap="square" lIns="224242" tIns="173442" rIns="84034" bIns="148042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F0A35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const</a:t>
            </a:r>
            <a:r>
              <a:rPr lang="en-US" sz="14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listi = [];</a:t>
            </a:r>
            <a:endParaRPr lang="en-US" sz="14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listi = [</a:t>
            </a:r>
            <a:r>
              <a:rPr lang="en-US" sz="1400" dirty="0">
                <a:solidFill>
                  <a:srgbClr val="9BD38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"a"</a:t>
            </a:r>
            <a:r>
              <a:rPr lang="en-US" sz="14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, </a:t>
            </a:r>
            <a:r>
              <a:rPr lang="en-US" sz="1400" dirty="0">
                <a:solidFill>
                  <a:srgbClr val="9BD38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"b"</a:t>
            </a:r>
            <a:r>
              <a:rPr lang="en-US" sz="14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];</a:t>
            </a:r>
            <a:endParaRPr lang="en-US" sz="14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F08A3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TypeError: Assignment</a:t>
            </a:r>
            <a:endParaRPr lang="en-US" sz="14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F08A3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to constant variable.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3799582"/>
            <a:ext cx="11379200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3E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</a:t>
            </a:r>
            <a:r>
              <a:rPr lang="en-US" sz="1500" dirty="0">
                <a:solidFill>
                  <a:srgbClr val="3E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þýðir: breytan bendir alltaf á </a:t>
            </a:r>
            <a:r>
              <a:rPr lang="en-US" sz="1500" b="1" dirty="0">
                <a:solidFill>
                  <a:srgbClr val="3E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sama kassann</a:t>
            </a:r>
            <a:r>
              <a:rPr lang="en-US" sz="1500" dirty="0">
                <a:solidFill>
                  <a:srgbClr val="3E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Það má setja hluti í kassann og taka úr honum, en ekki skipta honum út.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604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8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ARRAYS · FORSMEKKUR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9499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Fylki af objects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650901"/>
            <a:ext cx="6441480" cy="3114675"/>
          </a:xfrm>
          <a:prstGeom prst="roundRect">
            <a:avLst>
              <a:gd name="adj" fmla="val 3262"/>
            </a:avLst>
          </a:prstGeom>
          <a:solidFill>
            <a:srgbClr val="1E2433"/>
          </a:solidFill>
          <a:ln/>
        </p:spPr>
        <p:txBody>
          <a:bodyPr wrap="square" lIns="249642" tIns="198842" rIns="73162" bIns="173442" rtlCol="0" anchor="t">
            <a:normAutofit/>
          </a:bodyPr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F0A35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const</a:t>
            </a:r>
            <a:r>
              <a:rPr lang="en-US" sz="15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vorur = [</a:t>
            </a: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{ nafn: </a:t>
            </a:r>
            <a:r>
              <a:rPr lang="en-US" sz="1500" dirty="0">
                <a:solidFill>
                  <a:srgbClr val="9BD38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"Mjólk"</a:t>
            </a:r>
            <a:r>
              <a:rPr lang="en-US" sz="15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, verd: </a:t>
            </a:r>
            <a:r>
              <a:rPr lang="en-US" sz="1500" dirty="0">
                <a:solidFill>
                  <a:srgbClr val="7FB2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229</a:t>
            </a:r>
            <a:r>
              <a:rPr lang="en-US" sz="15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},</a:t>
            </a: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{ nafn: </a:t>
            </a:r>
            <a:r>
              <a:rPr lang="en-US" sz="1500" dirty="0">
                <a:solidFill>
                  <a:srgbClr val="9BD38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"Ostur"</a:t>
            </a:r>
            <a:r>
              <a:rPr lang="en-US" sz="15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, verd: </a:t>
            </a:r>
            <a:r>
              <a:rPr lang="en-US" sz="1500" dirty="0">
                <a:solidFill>
                  <a:srgbClr val="7FB2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1890</a:t>
            </a:r>
            <a:r>
              <a:rPr lang="en-US" sz="15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},</a:t>
            </a: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{ nafn: </a:t>
            </a:r>
            <a:r>
              <a:rPr lang="en-US" sz="1500" dirty="0">
                <a:solidFill>
                  <a:srgbClr val="9BD38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"Epli"</a:t>
            </a:r>
            <a:r>
              <a:rPr lang="en-US" sz="15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,  verd: </a:t>
            </a:r>
            <a:r>
              <a:rPr lang="en-US" sz="1500" dirty="0">
                <a:solidFill>
                  <a:srgbClr val="7FB2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399</a:t>
            </a:r>
            <a:r>
              <a:rPr lang="en-US" sz="15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},</a:t>
            </a: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];</a:t>
            </a: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vorur[</a:t>
            </a:r>
            <a:r>
              <a:rPr lang="en-US" sz="1500" dirty="0">
                <a:solidFill>
                  <a:srgbClr val="7FB2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</a:t>
            </a:r>
            <a:r>
              <a:rPr lang="en-US" sz="15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].nafn   </a:t>
            </a:r>
            <a:r>
              <a:rPr lang="en-US" sz="1500" dirty="0">
                <a:solidFill>
                  <a:srgbClr val="7D8799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"Ostur"</a:t>
            </a: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vorur[</a:t>
            </a:r>
            <a:r>
              <a:rPr lang="en-US" sz="1500" dirty="0">
                <a:solidFill>
                  <a:srgbClr val="7FB2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</a:t>
            </a:r>
            <a:r>
              <a:rPr lang="en-US" sz="15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].verd   </a:t>
            </a:r>
            <a:r>
              <a:rPr lang="en-US" sz="1500" dirty="0">
                <a:solidFill>
                  <a:srgbClr val="7D8799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1890</a:t>
            </a: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vorur.length     </a:t>
            </a:r>
            <a:r>
              <a:rPr lang="en-US" sz="1500" dirty="0">
                <a:solidFill>
                  <a:srgbClr val="7D8799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3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60655" y="1654076"/>
            <a:ext cx="3915370" cy="895846"/>
          </a:xfrm>
          <a:prstGeom prst="roundRect">
            <a:avLst>
              <a:gd name="adj" fmla="val 10987"/>
            </a:avLst>
          </a:prstGeom>
          <a:solidFill>
            <a:srgbClr val="FDFCF9"/>
          </a:solidFill>
          <a:ln w="6350">
            <a:solidFill>
              <a:srgbClr val="E2DE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67030" y="1835051"/>
            <a:ext cx="3607699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{ }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67030" y="2129631"/>
            <a:ext cx="3607699" cy="26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Einn hlutur með nefnd gildi: nafn og verð.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460655" y="2683272"/>
            <a:ext cx="3915370" cy="895846"/>
          </a:xfrm>
          <a:prstGeom prst="roundRect">
            <a:avLst>
              <a:gd name="adj" fmla="val 10987"/>
            </a:avLst>
          </a:prstGeom>
          <a:solidFill>
            <a:srgbClr val="FDFCF9"/>
          </a:solidFill>
          <a:ln w="6350">
            <a:solidFill>
              <a:srgbClr val="E2DE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67030" y="2864247"/>
            <a:ext cx="3607699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Fylki [ ]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67030" y="3158827"/>
            <a:ext cx="3607699" cy="26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Listi af slíkum hlutum: vörur, notendur, færslur.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460655" y="3712468"/>
            <a:ext cx="3915370" cy="1135162"/>
          </a:xfrm>
          <a:prstGeom prst="roundRect">
            <a:avLst>
              <a:gd name="adj" fmla="val 8671"/>
            </a:avLst>
          </a:prstGeom>
          <a:solidFill>
            <a:srgbClr val="FDFCF9"/>
          </a:solidFill>
          <a:ln w="6350">
            <a:solidFill>
              <a:srgbClr val="E2DE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67030" y="3893443"/>
            <a:ext cx="3607699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 dag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67030" y="4188023"/>
            <a:ext cx="3607699" cy="504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Þið þurfið bara punktinn: vara.nafn og vara.verd.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2800" y="5104805"/>
            <a:ext cx="10883392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3E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Raunveruleg gögn líta nær alltaf svona út. Þess vegna eru map, filter og reduce svona gagnleg.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2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36984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6FA0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02</a:t>
            </a:r>
            <a:endParaRPr lang="en-US" sz="2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913360"/>
            <a:ext cx="10883392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00"/>
              </a:lnSpc>
              <a:buNone/>
            </a:pPr>
            <a:r>
              <a:rPr lang="en-US" sz="8000" b="1" i="0" spc="-100" kern="0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forEach &amp; map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812800" y="4132560"/>
            <a:ext cx="108833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BFC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Láttu fylkið sjá um loopuna.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604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A5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FOREACH &amp; MAP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9499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forEach: function sem við sendum inn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650901"/>
            <a:ext cx="5337048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for...of (síðasti tími)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2001341"/>
            <a:ext cx="5181600" cy="1259780"/>
          </a:xfrm>
          <a:prstGeom prst="roundRect">
            <a:avLst>
              <a:gd name="adj" fmla="val 8065"/>
            </a:avLst>
          </a:prstGeom>
          <a:solidFill>
            <a:srgbClr val="1E2433"/>
          </a:solidFill>
          <a:ln/>
        </p:spPr>
        <p:txBody>
          <a:bodyPr wrap="square" lIns="224242" tIns="173442" rIns="84034" bIns="148042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F0A35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for</a:t>
            </a:r>
            <a:r>
              <a:rPr lang="en-US" sz="14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(</a:t>
            </a:r>
            <a:r>
              <a:rPr lang="en-US" sz="1400" dirty="0">
                <a:solidFill>
                  <a:srgbClr val="F0A35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const</a:t>
            </a:r>
            <a:r>
              <a:rPr lang="en-US" sz="14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eitt </a:t>
            </a:r>
            <a:r>
              <a:rPr lang="en-US" sz="1400" dirty="0">
                <a:solidFill>
                  <a:srgbClr val="F0A35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of</a:t>
            </a:r>
            <a:r>
              <a:rPr lang="en-US" sz="14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dyr) {</a:t>
            </a:r>
            <a:endParaRPr lang="en-US" sz="14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console.log(eitt);</a:t>
            </a:r>
            <a:endParaRPr lang="en-US" sz="14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}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197600" y="1650901"/>
            <a:ext cx="5337048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forEach (nýtt)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197600" y="2001341"/>
            <a:ext cx="5181600" cy="1259780"/>
          </a:xfrm>
          <a:prstGeom prst="roundRect">
            <a:avLst>
              <a:gd name="adj" fmla="val 8065"/>
            </a:avLst>
          </a:prstGeom>
          <a:solidFill>
            <a:srgbClr val="1E2433"/>
          </a:solidFill>
          <a:ln/>
        </p:spPr>
        <p:txBody>
          <a:bodyPr wrap="square" lIns="224242" tIns="173442" rIns="84034" bIns="148042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dyr.</a:t>
            </a:r>
            <a:r>
              <a:rPr lang="en-US" sz="1400" dirty="0">
                <a:solidFill>
                  <a:srgbClr val="E8C9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forEach</a:t>
            </a:r>
            <a:r>
              <a:rPr lang="en-US" sz="14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((eitt) =&gt; {</a:t>
            </a:r>
            <a:endParaRPr lang="en-US" sz="14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console.log(eitt);</a:t>
            </a:r>
            <a:endParaRPr lang="en-US" sz="14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});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15975" y="3518297"/>
            <a:ext cx="5200650" cy="1135162"/>
          </a:xfrm>
          <a:prstGeom prst="roundRect">
            <a:avLst>
              <a:gd name="adj" fmla="val 8671"/>
            </a:avLst>
          </a:prstGeom>
          <a:solidFill>
            <a:srgbClr val="FDFCF9"/>
          </a:solidFill>
          <a:ln w="6350">
            <a:solidFill>
              <a:srgbClr val="E2DE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2350" y="3699272"/>
            <a:ext cx="4931537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Callback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22350" y="3993852"/>
            <a:ext cx="4931537" cy="504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Arrow function-ið sem við sendum inn. forEach kallar á það einu sinni fyrir hvert stak.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75375" y="3518297"/>
            <a:ext cx="5200650" cy="1135162"/>
          </a:xfrm>
          <a:prstGeom prst="roundRect">
            <a:avLst>
              <a:gd name="adj" fmla="val 8671"/>
            </a:avLst>
          </a:prstGeom>
          <a:solidFill>
            <a:srgbClr val="FDFCF9"/>
          </a:solidFill>
          <a:ln w="6350">
            <a:solidFill>
              <a:srgbClr val="E2DE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81750" y="3699272"/>
            <a:ext cx="4931537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fylgir með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81750" y="3993852"/>
            <a:ext cx="4931537" cy="26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Viltu númerið líka? Bættu við öðrum parameter: (eitt, i) =&gt; …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2800" y="4910634"/>
            <a:ext cx="10883392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3E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Sama niðurstaða, engin loopa sem við skrifum sjálf. forEach </a:t>
            </a:r>
            <a:r>
              <a:rPr lang="en-US" sz="1500" b="1" dirty="0">
                <a:solidFill>
                  <a:srgbClr val="3E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skilar engu</a:t>
            </a:r>
            <a:r>
              <a:rPr lang="en-US" sz="1500" dirty="0">
                <a:solidFill>
                  <a:srgbClr val="3E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það gerir bara eitthvað.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604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A5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FOREACH &amp; MAP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9499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map: breyta hverju staki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704876"/>
            <a:ext cx="10560050" cy="1225550"/>
          </a:xfrm>
          <a:prstGeom prst="roundRect">
            <a:avLst>
              <a:gd name="adj" fmla="val 8031"/>
            </a:avLst>
          </a:prstGeom>
          <a:solidFill>
            <a:srgbClr val="FDFCF9"/>
          </a:solidFill>
          <a:ln w="6350">
            <a:solidFill>
              <a:srgbClr val="E2DE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56284" y="2012851"/>
            <a:ext cx="2235498" cy="609600"/>
          </a:xfrm>
          <a:prstGeom prst="roundRect">
            <a:avLst>
              <a:gd name="adj" fmla="val 12500"/>
            </a:avLst>
          </a:prstGeom>
          <a:solidFill>
            <a:srgbClr val="1E2433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[1, 2, 3, 4]</a:t>
            </a:r>
            <a:endParaRPr lang="en-US" sz="2000" dirty="0"/>
          </a:p>
        </p:txBody>
      </p:sp>
      <p:pic>
        <p:nvPicPr>
          <p:cNvPr id="6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94981" y="2177951"/>
            <a:ext cx="558800" cy="279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63331" y="2024261"/>
            <a:ext cx="2065337" cy="586680"/>
          </a:xfrm>
          <a:prstGeom prst="roundRect">
            <a:avLst>
              <a:gd name="adj" fmla="val 11906"/>
            </a:avLst>
          </a:prstGeom>
          <a:solidFill>
            <a:srgbClr val="E3ECFA"/>
          </a:solidFill>
          <a:ln w="12700">
            <a:solidFill>
              <a:srgbClr val="2A5DB8"/>
            </a:solidFill>
            <a:prstDash val="dash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D469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(x) =&gt; x * 2</a:t>
            </a:r>
            <a:endParaRPr lang="en-US" sz="1800" dirty="0"/>
          </a:p>
        </p:txBody>
      </p:sp>
      <p:pic>
        <p:nvPicPr>
          <p:cNvPr id="8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338219" y="2177951"/>
            <a:ext cx="558800" cy="279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100219" y="2012851"/>
            <a:ext cx="2235498" cy="609600"/>
          </a:xfrm>
          <a:prstGeom prst="roundRect">
            <a:avLst>
              <a:gd name="adj" fmla="val 12500"/>
            </a:avLst>
          </a:prstGeom>
          <a:solidFill>
            <a:srgbClr val="1E2433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[2, 4, 6, 8]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812800" y="3238401"/>
            <a:ext cx="10566400" cy="1638300"/>
          </a:xfrm>
          <a:prstGeom prst="roundRect">
            <a:avLst>
              <a:gd name="adj" fmla="val 6202"/>
            </a:avLst>
          </a:prstGeom>
          <a:solidFill>
            <a:srgbClr val="1E2433"/>
          </a:solidFill>
          <a:ln/>
        </p:spPr>
        <p:txBody>
          <a:bodyPr wrap="square" lIns="249642" tIns="198842" rIns="0" bIns="173442" rtlCol="0" anchor="t">
            <a:normAutofit/>
          </a:bodyPr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F0A35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const</a:t>
            </a:r>
            <a:r>
              <a:rPr lang="en-US" sz="15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tolur = [</a:t>
            </a:r>
            <a:r>
              <a:rPr lang="en-US" sz="1500" dirty="0">
                <a:solidFill>
                  <a:srgbClr val="7FB2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</a:t>
            </a:r>
            <a:r>
              <a:rPr lang="en-US" sz="15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, </a:t>
            </a:r>
            <a:r>
              <a:rPr lang="en-US" sz="1500" dirty="0">
                <a:solidFill>
                  <a:srgbClr val="7FB2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2</a:t>
            </a:r>
            <a:r>
              <a:rPr lang="en-US" sz="15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, </a:t>
            </a:r>
            <a:r>
              <a:rPr lang="en-US" sz="1500" dirty="0">
                <a:solidFill>
                  <a:srgbClr val="7FB2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3</a:t>
            </a:r>
            <a:r>
              <a:rPr lang="en-US" sz="15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, </a:t>
            </a:r>
            <a:r>
              <a:rPr lang="en-US" sz="1500" dirty="0">
                <a:solidFill>
                  <a:srgbClr val="7FB2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4</a:t>
            </a:r>
            <a:r>
              <a:rPr lang="en-US" sz="15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];</a:t>
            </a: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F0A35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const</a:t>
            </a:r>
            <a:r>
              <a:rPr lang="en-US" sz="15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tvofalt = tolur.</a:t>
            </a:r>
            <a:r>
              <a:rPr lang="en-US" sz="1500" dirty="0">
                <a:solidFill>
                  <a:srgbClr val="E8C9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map</a:t>
            </a:r>
            <a:r>
              <a:rPr lang="en-US" sz="15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((x) =&gt; x * </a:t>
            </a:r>
            <a:r>
              <a:rPr lang="en-US" sz="1500" dirty="0">
                <a:solidFill>
                  <a:srgbClr val="7FB2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2</a:t>
            </a:r>
            <a:r>
              <a:rPr lang="en-US" sz="15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);</a:t>
            </a: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console.log(tvofalt);  </a:t>
            </a:r>
            <a:r>
              <a:rPr lang="en-US" sz="1500" dirty="0">
                <a:solidFill>
                  <a:srgbClr val="7D8799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[2, 4, 6, 8]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812800" y="5181501"/>
            <a:ext cx="10883392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3E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Sami fjöldi inn og út.</a:t>
            </a:r>
            <a:r>
              <a:rPr lang="en-US" sz="1500" dirty="0">
                <a:solidFill>
                  <a:srgbClr val="3E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Hvert stak fer í gegnum function-ið og það sem það skilar fer í nýja fylkið.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604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A5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FOREACH &amp; MAP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9499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skilar NÝJU fylki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650901"/>
            <a:ext cx="5337048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Upprunalega fylkið er óbreytt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2001341"/>
            <a:ext cx="5181600" cy="2113161"/>
          </a:xfrm>
          <a:prstGeom prst="roundRect">
            <a:avLst>
              <a:gd name="adj" fmla="val 4808"/>
            </a:avLst>
          </a:prstGeom>
          <a:solidFill>
            <a:srgbClr val="1E2433"/>
          </a:solidFill>
          <a:ln/>
        </p:spPr>
        <p:txBody>
          <a:bodyPr wrap="square" lIns="224242" tIns="173442" rIns="84034" bIns="148042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F0A35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const</a:t>
            </a:r>
            <a:r>
              <a:rPr lang="en-US" sz="14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verd = [</a:t>
            </a:r>
            <a:r>
              <a:rPr lang="en-US" sz="1400" dirty="0">
                <a:solidFill>
                  <a:srgbClr val="7FB2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1000</a:t>
            </a:r>
            <a:r>
              <a:rPr lang="en-US" sz="14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, </a:t>
            </a:r>
            <a:r>
              <a:rPr lang="en-US" sz="1400" dirty="0">
                <a:solidFill>
                  <a:srgbClr val="7FB2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2000</a:t>
            </a:r>
            <a:r>
              <a:rPr lang="en-US" sz="14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];</a:t>
            </a:r>
            <a:endParaRPr lang="en-US" sz="14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F0A35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const</a:t>
            </a:r>
            <a:r>
              <a:rPr lang="en-US" sz="14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medVsk = verd</a:t>
            </a:r>
            <a:endParaRPr lang="en-US" sz="14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.</a:t>
            </a:r>
            <a:r>
              <a:rPr lang="en-US" sz="1400" dirty="0">
                <a:solidFill>
                  <a:srgbClr val="E8C9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map</a:t>
            </a:r>
            <a:r>
              <a:rPr lang="en-US" sz="14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((v) =&gt; v * </a:t>
            </a:r>
            <a:r>
              <a:rPr lang="en-US" sz="1400" dirty="0">
                <a:solidFill>
                  <a:srgbClr val="7FB2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1.24</a:t>
            </a:r>
            <a:r>
              <a:rPr lang="en-US" sz="14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);</a:t>
            </a:r>
            <a:endParaRPr lang="en-US" sz="1400" dirty="0"/>
          </a:p>
          <a:p>
            <a:pPr algn="l" indent="0" marL="0">
              <a:lnSpc>
                <a:spcPts val="2240"/>
              </a:lnSpc>
              <a:buNone/>
            </a:pPr>
            <a:endParaRPr lang="en-US" sz="14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verd    </a:t>
            </a:r>
            <a:r>
              <a:rPr lang="en-US" sz="1400" dirty="0">
                <a:solidFill>
                  <a:srgbClr val="7D8799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[1000, 2000]</a:t>
            </a:r>
            <a:endParaRPr lang="en-US" sz="14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medVsk  </a:t>
            </a:r>
            <a:r>
              <a:rPr lang="en-US" sz="1400" dirty="0">
                <a:solidFill>
                  <a:srgbClr val="7D8799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[1240, 2480]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197600" y="1650901"/>
            <a:ext cx="5337048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Algeng villa: { } án return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197600" y="2001341"/>
            <a:ext cx="5181600" cy="2113161"/>
          </a:xfrm>
          <a:prstGeom prst="roundRect">
            <a:avLst>
              <a:gd name="adj" fmla="val 4808"/>
            </a:avLst>
          </a:prstGeom>
          <a:solidFill>
            <a:srgbClr val="1E2433"/>
          </a:solidFill>
          <a:ln/>
        </p:spPr>
        <p:txBody>
          <a:bodyPr wrap="square" lIns="224242" tIns="173442" rIns="84034" bIns="148042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F0A35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const</a:t>
            </a:r>
            <a:r>
              <a:rPr lang="en-US" sz="14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medVsk = verd</a:t>
            </a:r>
            <a:endParaRPr lang="en-US" sz="14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.</a:t>
            </a:r>
            <a:r>
              <a:rPr lang="en-US" sz="1400" dirty="0">
                <a:solidFill>
                  <a:srgbClr val="E8C9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map</a:t>
            </a:r>
            <a:r>
              <a:rPr lang="en-US" sz="14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((v) =&gt; {</a:t>
            </a:r>
            <a:endParaRPr lang="en-US" sz="14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v * </a:t>
            </a:r>
            <a:r>
              <a:rPr lang="en-US" sz="1400" dirty="0">
                <a:solidFill>
                  <a:srgbClr val="7FB2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1.24</a:t>
            </a:r>
            <a:r>
              <a:rPr lang="en-US" sz="14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;</a:t>
            </a:r>
            <a:endParaRPr lang="en-US" sz="14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});</a:t>
            </a:r>
            <a:endParaRPr lang="en-US" sz="1400" dirty="0"/>
          </a:p>
          <a:p>
            <a:pPr algn="l" indent="0" marL="0">
              <a:lnSpc>
                <a:spcPts val="2240"/>
              </a:lnSpc>
              <a:buNone/>
            </a:pPr>
            <a:endParaRPr lang="en-US" sz="14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F08A3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[undefined, undefined]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4368502"/>
            <a:ext cx="10883392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3E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Með </a:t>
            </a:r>
            <a:r>
              <a:rPr lang="en-US" sz="1500" b="1" dirty="0">
                <a:solidFill>
                  <a:srgbClr val="3E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 }</a:t>
            </a:r>
            <a:r>
              <a:rPr lang="en-US" sz="1500" dirty="0">
                <a:solidFill>
                  <a:srgbClr val="3E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þarf </a:t>
            </a:r>
            <a:r>
              <a:rPr lang="en-US" sz="1500" b="1" dirty="0">
                <a:solidFill>
                  <a:srgbClr val="3E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</a:t>
            </a:r>
            <a:r>
              <a:rPr lang="en-US" sz="1500" dirty="0">
                <a:solidFill>
                  <a:srgbClr val="3E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Ein lína án { }? Þá skilar arrow function sjálfkrafa, sama regla og síðast.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604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A5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FOREACH &amp; MAP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9499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+ join: úr fylki á síðuna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650901"/>
            <a:ext cx="6441480" cy="2819400"/>
          </a:xfrm>
          <a:prstGeom prst="roundRect">
            <a:avLst>
              <a:gd name="adj" fmla="val 3604"/>
            </a:avLst>
          </a:prstGeom>
          <a:solidFill>
            <a:srgbClr val="1E2433"/>
          </a:solidFill>
          <a:ln/>
        </p:spPr>
        <p:txBody>
          <a:bodyPr wrap="square" lIns="249642" tIns="198842" rIns="73162" bIns="173442" rtlCol="0" anchor="t">
            <a:normAutofit/>
          </a:bodyPr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F0A35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const</a:t>
            </a:r>
            <a:r>
              <a:rPr lang="en-US" sz="15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dyr = [</a:t>
            </a:r>
            <a:r>
              <a:rPr lang="en-US" sz="1500" dirty="0">
                <a:solidFill>
                  <a:srgbClr val="9BD38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"köttur"</a:t>
            </a:r>
            <a:r>
              <a:rPr lang="en-US" sz="15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, </a:t>
            </a:r>
            <a:r>
              <a:rPr lang="en-US" sz="1500" dirty="0">
                <a:solidFill>
                  <a:srgbClr val="9BD38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"hundur"</a:t>
            </a:r>
            <a:r>
              <a:rPr lang="en-US" sz="15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, </a:t>
            </a:r>
            <a:r>
              <a:rPr lang="en-US" sz="1500" dirty="0">
                <a:solidFill>
                  <a:srgbClr val="9BD38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"hestur"</a:t>
            </a:r>
            <a:r>
              <a:rPr lang="en-US" sz="15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];</a:t>
            </a: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F0A35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const</a:t>
            </a:r>
            <a:r>
              <a:rPr lang="en-US" sz="15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html = dyr</a:t>
            </a: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.</a:t>
            </a:r>
            <a:r>
              <a:rPr lang="en-US" sz="1500" dirty="0">
                <a:solidFill>
                  <a:srgbClr val="E8C9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map</a:t>
            </a:r>
            <a:r>
              <a:rPr lang="en-US" sz="15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((d) =&gt; </a:t>
            </a:r>
            <a:r>
              <a:rPr lang="en-US" sz="1500" dirty="0">
                <a:solidFill>
                  <a:srgbClr val="9BD38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"&lt;li&gt;"</a:t>
            </a:r>
            <a:r>
              <a:rPr lang="en-US" sz="15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+ d + </a:t>
            </a:r>
            <a:r>
              <a:rPr lang="en-US" sz="1500" dirty="0">
                <a:solidFill>
                  <a:srgbClr val="9BD38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"&lt;/li&gt;"</a:t>
            </a:r>
            <a:r>
              <a:rPr lang="en-US" sz="15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)</a:t>
            </a: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.</a:t>
            </a:r>
            <a:r>
              <a:rPr lang="en-US" sz="1500" dirty="0">
                <a:solidFill>
                  <a:srgbClr val="E8C9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join</a:t>
            </a:r>
            <a:r>
              <a:rPr lang="en-US" sz="15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</a:t>
            </a:r>
            <a:r>
              <a:rPr lang="en-US" sz="1500" dirty="0">
                <a:solidFill>
                  <a:srgbClr val="9BD38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""</a:t>
            </a:r>
            <a:r>
              <a:rPr lang="en-US" sz="15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);</a:t>
            </a: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document.getElementById(</a:t>
            </a:r>
            <a:r>
              <a:rPr lang="en-US" sz="1500" dirty="0">
                <a:solidFill>
                  <a:srgbClr val="9BD38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"dyralisti"</a:t>
            </a:r>
            <a:r>
              <a:rPr lang="en-US" sz="15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)</a:t>
            </a: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.innerHTML = html;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60655" y="1654076"/>
            <a:ext cx="3915370" cy="1469330"/>
          </a:xfrm>
          <a:prstGeom prst="roundRect">
            <a:avLst>
              <a:gd name="adj" fmla="val 6699"/>
            </a:avLst>
          </a:prstGeom>
          <a:solidFill>
            <a:srgbClr val="FDFCF9"/>
          </a:solidFill>
          <a:ln w="6350">
            <a:solidFill>
              <a:srgbClr val="E2DE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67030" y="1835051"/>
            <a:ext cx="3607699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 síðunni: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64312" y="2142331"/>
            <a:ext cx="3502797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6718" indent="-1567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köttur</a:t>
            </a:r>
            <a:endParaRPr lang="en-US" sz="1400" dirty="0"/>
          </a:p>
          <a:p>
            <a:pPr algn="l" marL="156718" indent="-1567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hundur</a:t>
            </a:r>
            <a:endParaRPr lang="en-US" sz="1400" dirty="0"/>
          </a:p>
          <a:p>
            <a:pPr algn="l" marL="156718" indent="-1567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hestur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60655" y="3282156"/>
            <a:ext cx="3915370" cy="1119981"/>
          </a:xfrm>
          <a:prstGeom prst="roundRect">
            <a:avLst>
              <a:gd name="adj" fmla="val 8788"/>
            </a:avLst>
          </a:prstGeom>
          <a:solidFill>
            <a:srgbClr val="FDFCF9"/>
          </a:solidFill>
          <a:ln w="6350">
            <a:solidFill>
              <a:srgbClr val="E2DE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67030" y="3463131"/>
            <a:ext cx="360769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join("")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667030" y="3742531"/>
            <a:ext cx="3607699" cy="504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Límir öll stökin saman í einn texta. join(", ") setur kommu á milli.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12800" y="4724301"/>
            <a:ext cx="10883392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3E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Sama og for...of dæmið síðast, en enginn tómur texti og ekkert +=. Þetta notið þið í Verkefni 3 og 6.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C2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96979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4CC9A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03</a:t>
            </a:r>
            <a:endParaRPr lang="en-US" sz="2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513310"/>
            <a:ext cx="10883392" cy="18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350"/>
              </a:lnSpc>
              <a:buNone/>
            </a:pPr>
            <a:r>
              <a:rPr lang="en-US" sz="7000" b="1" i="0" spc="-100" kern="0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filter, find</a:t>
            </a:r>
            <a:endParaRPr lang="en-US" sz="7000" dirty="0"/>
          </a:p>
          <a:p>
            <a:pPr algn="l" indent="0" marL="0">
              <a:lnSpc>
                <a:spcPts val="7350"/>
              </a:lnSpc>
              <a:buNone/>
            </a:pPr>
            <a:r>
              <a:rPr lang="en-US" sz="7000" b="1" i="0" spc="-100" kern="0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reduce</a:t>
            </a:r>
            <a:endParaRPr lang="en-US" sz="7000" dirty="0"/>
          </a:p>
        </p:txBody>
      </p:sp>
      <p:sp>
        <p:nvSpPr>
          <p:cNvPr id="4" name="Text 2"/>
          <p:cNvSpPr/>
          <p:nvPr/>
        </p:nvSpPr>
        <p:spPr>
          <a:xfrm>
            <a:off x="812800" y="4532610"/>
            <a:ext cx="108833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BFC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Velja úr, finna eitt og leggja saman.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604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E7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FILTER, FIND &amp; REDUCE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9499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filter: true heldur, false hendir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704876"/>
            <a:ext cx="10560050" cy="1144191"/>
          </a:xfrm>
          <a:prstGeom prst="roundRect">
            <a:avLst>
              <a:gd name="adj" fmla="val 8602"/>
            </a:avLst>
          </a:prstGeom>
          <a:solidFill>
            <a:srgbClr val="FDFCF9"/>
          </a:solidFill>
          <a:ln w="6350">
            <a:solidFill>
              <a:srgbClr val="E2DE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31925" y="2025551"/>
            <a:ext cx="3343176" cy="502841"/>
          </a:xfrm>
          <a:prstGeom prst="roundRect">
            <a:avLst>
              <a:gd name="adj" fmla="val 15154"/>
            </a:avLst>
          </a:prstGeom>
          <a:solidFill>
            <a:srgbClr val="1E2433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[1290, 450, 3990, 790, 2490]</a:t>
            </a:r>
            <a:endParaRPr lang="en-US" sz="1400" dirty="0"/>
          </a:p>
        </p:txBody>
      </p:sp>
      <p:pic>
        <p:nvPicPr>
          <p:cNvPr id="6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52901" y="2149971"/>
            <a:ext cx="508000" cy="254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45051" y="2019201"/>
            <a:ext cx="1968798" cy="515541"/>
          </a:xfrm>
          <a:prstGeom prst="roundRect">
            <a:avLst>
              <a:gd name="adj" fmla="val 13549"/>
            </a:avLst>
          </a:prstGeom>
          <a:solidFill>
            <a:srgbClr val="DDF2EC"/>
          </a:solidFill>
          <a:ln w="12700">
            <a:solidFill>
              <a:srgbClr val="1E7F6B"/>
            </a:solidFill>
            <a:prstDash val="dash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594B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(v) =&gt; v &gt; 1000</a:t>
            </a:r>
            <a:endParaRPr lang="en-US" sz="1400" dirty="0"/>
          </a:p>
        </p:txBody>
      </p:sp>
      <p:pic>
        <p:nvPicPr>
          <p:cNvPr id="8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797998" y="2149971"/>
            <a:ext cx="508000" cy="254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483798" y="2025551"/>
            <a:ext cx="2276177" cy="502841"/>
          </a:xfrm>
          <a:prstGeom prst="roundRect">
            <a:avLst>
              <a:gd name="adj" fmla="val 15154"/>
            </a:avLst>
          </a:prstGeom>
          <a:solidFill>
            <a:srgbClr val="1E2433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[1290, 3990, 2490]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812800" y="3157041"/>
            <a:ext cx="10566400" cy="1638300"/>
          </a:xfrm>
          <a:prstGeom prst="roundRect">
            <a:avLst>
              <a:gd name="adj" fmla="val 6202"/>
            </a:avLst>
          </a:prstGeom>
          <a:solidFill>
            <a:srgbClr val="1E2433"/>
          </a:solidFill>
          <a:ln/>
        </p:spPr>
        <p:txBody>
          <a:bodyPr wrap="square" lIns="249642" tIns="198842" rIns="0" bIns="173442" rtlCol="0" anchor="t">
            <a:normAutofit/>
          </a:bodyPr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F0A35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const</a:t>
            </a:r>
            <a:r>
              <a:rPr lang="en-US" sz="15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verd = [</a:t>
            </a:r>
            <a:r>
              <a:rPr lang="en-US" sz="1500" dirty="0">
                <a:solidFill>
                  <a:srgbClr val="7FB2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1290</a:t>
            </a:r>
            <a:r>
              <a:rPr lang="en-US" sz="15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, </a:t>
            </a:r>
            <a:r>
              <a:rPr lang="en-US" sz="1500" dirty="0">
                <a:solidFill>
                  <a:srgbClr val="7FB2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450</a:t>
            </a:r>
            <a:r>
              <a:rPr lang="en-US" sz="15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, </a:t>
            </a:r>
            <a:r>
              <a:rPr lang="en-US" sz="1500" dirty="0">
                <a:solidFill>
                  <a:srgbClr val="7FB2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3990</a:t>
            </a:r>
            <a:r>
              <a:rPr lang="en-US" sz="15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, </a:t>
            </a:r>
            <a:r>
              <a:rPr lang="en-US" sz="1500" dirty="0">
                <a:solidFill>
                  <a:srgbClr val="7FB2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790</a:t>
            </a:r>
            <a:r>
              <a:rPr lang="en-US" sz="15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, </a:t>
            </a:r>
            <a:r>
              <a:rPr lang="en-US" sz="1500" dirty="0">
                <a:solidFill>
                  <a:srgbClr val="7FB2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2490</a:t>
            </a:r>
            <a:r>
              <a:rPr lang="en-US" sz="15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];</a:t>
            </a: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F0A35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const</a:t>
            </a:r>
            <a:r>
              <a:rPr lang="en-US" sz="15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dyrar = verd.</a:t>
            </a:r>
            <a:r>
              <a:rPr lang="en-US" sz="1500" dirty="0">
                <a:solidFill>
                  <a:srgbClr val="E8C9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filter</a:t>
            </a:r>
            <a:r>
              <a:rPr lang="en-US" sz="15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((v) =&gt; v &gt; </a:t>
            </a:r>
            <a:r>
              <a:rPr lang="en-US" sz="1500" dirty="0">
                <a:solidFill>
                  <a:srgbClr val="7FB2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1000</a:t>
            </a:r>
            <a:r>
              <a:rPr lang="en-US" sz="15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);</a:t>
            </a: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console.log(dyrar);  </a:t>
            </a:r>
            <a:r>
              <a:rPr lang="en-US" sz="1500" dirty="0">
                <a:solidFill>
                  <a:srgbClr val="7D8799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[1290, 3990, 2490]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812800" y="5100141"/>
            <a:ext cx="10883392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3E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Function-ið svarar </a:t>
            </a:r>
            <a:r>
              <a:rPr lang="en-US" sz="1500" b="1" dirty="0">
                <a:solidFill>
                  <a:srgbClr val="3E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já eða nei</a:t>
            </a:r>
            <a:r>
              <a:rPr lang="en-US" sz="1500" dirty="0">
                <a:solidFill>
                  <a:srgbClr val="3E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fyrir hvert stak. Út kemur nýtt fylki, oft styttra. Upprunalega fylkið er óbreytt.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604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E7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FILTER, FIND &amp; REDUCE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9499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find: bara það fyrsta sem passar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650901"/>
            <a:ext cx="10566400" cy="2857500"/>
          </a:xfrm>
          <a:prstGeom prst="roundRect">
            <a:avLst>
              <a:gd name="adj" fmla="val 3556"/>
            </a:avLst>
          </a:prstGeom>
          <a:solidFill>
            <a:srgbClr val="1E2433"/>
          </a:solidFill>
          <a:ln/>
        </p:spPr>
        <p:txBody>
          <a:bodyPr wrap="square" lIns="249642" tIns="198842" rIns="0" bIns="173442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7D8799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vorur = Mjólk 229, Ostur 1890, Epli 399, Kaffi 1490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vorur.</a:t>
            </a:r>
            <a:r>
              <a:rPr lang="en-US" sz="1400" dirty="0">
                <a:solidFill>
                  <a:srgbClr val="E8C9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filter</a:t>
            </a:r>
            <a:r>
              <a:rPr lang="en-US" sz="14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((v) =&gt; v.verd &gt; </a:t>
            </a:r>
            <a:r>
              <a:rPr lang="en-US" sz="1400" dirty="0">
                <a:solidFill>
                  <a:srgbClr val="7FB2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1000</a:t>
            </a:r>
            <a:r>
              <a:rPr lang="en-US" sz="14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);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7D8799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[{ nafn: "Ostur", … }, { nafn: "Kaffi", … }]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vorur.</a:t>
            </a:r>
            <a:r>
              <a:rPr lang="en-US" sz="1400" dirty="0">
                <a:solidFill>
                  <a:srgbClr val="E8C9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find</a:t>
            </a:r>
            <a:r>
              <a:rPr lang="en-US" sz="14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((v) =&gt; v.verd &gt; </a:t>
            </a:r>
            <a:r>
              <a:rPr lang="en-US" sz="1400" dirty="0">
                <a:solidFill>
                  <a:srgbClr val="7FB2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1000</a:t>
            </a:r>
            <a:r>
              <a:rPr lang="en-US" sz="14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);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7D8799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{ nafn: "Ostur", verd: 1890 }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vorur.</a:t>
            </a:r>
            <a:r>
              <a:rPr lang="en-US" sz="1400" dirty="0">
                <a:solidFill>
                  <a:srgbClr val="E8C9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find</a:t>
            </a:r>
            <a:r>
              <a:rPr lang="en-US" sz="14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((v) =&gt; v.verd &gt; </a:t>
            </a:r>
            <a:r>
              <a:rPr lang="en-US" sz="1400" dirty="0">
                <a:solidFill>
                  <a:srgbClr val="7FB2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9999</a:t>
            </a:r>
            <a:r>
              <a:rPr lang="en-US" sz="14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);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7D8799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undefined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5975" y="4765576"/>
            <a:ext cx="5200650" cy="895846"/>
          </a:xfrm>
          <a:prstGeom prst="roundRect">
            <a:avLst>
              <a:gd name="adj" fmla="val 10987"/>
            </a:avLst>
          </a:prstGeom>
          <a:solidFill>
            <a:srgbClr val="FDFCF9"/>
          </a:solidFill>
          <a:ln w="6350">
            <a:solidFill>
              <a:srgbClr val="E2DE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2350" y="4946551"/>
            <a:ext cx="4931537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22350" y="5241131"/>
            <a:ext cx="4931537" cy="26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Skilar alltaf </a:t>
            </a:r>
            <a:r>
              <a:rPr lang="en-US" sz="1300" b="1" dirty="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fylki</a:t>
            </a:r>
            <a:r>
              <a:rPr lang="en-US" sz="1300" dirty="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kannski tómu [ ].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5375" y="4765576"/>
            <a:ext cx="5200650" cy="895846"/>
          </a:xfrm>
          <a:prstGeom prst="roundRect">
            <a:avLst>
              <a:gd name="adj" fmla="val 10987"/>
            </a:avLst>
          </a:prstGeom>
          <a:solidFill>
            <a:srgbClr val="FDFCF9"/>
          </a:solidFill>
          <a:ln w="6350">
            <a:solidFill>
              <a:srgbClr val="E2DE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81750" y="4946551"/>
            <a:ext cx="4931537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381750" y="5241131"/>
            <a:ext cx="4931537" cy="26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Skilar </a:t>
            </a:r>
            <a:r>
              <a:rPr lang="en-US" sz="1300" b="1" dirty="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einu staki</a:t>
            </a:r>
            <a:r>
              <a:rPr lang="en-US" sz="1300" dirty="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eða undefined.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604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E7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FILTER, FIND &amp; REDUCE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9499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reduce: frá mörgum í eitt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650901"/>
            <a:ext cx="10566400" cy="1511697"/>
          </a:xfrm>
          <a:prstGeom prst="roundRect">
            <a:avLst>
              <a:gd name="adj" fmla="val 6721"/>
            </a:avLst>
          </a:prstGeom>
          <a:solidFill>
            <a:srgbClr val="1E2433"/>
          </a:solidFill>
          <a:ln/>
        </p:spPr>
        <p:txBody>
          <a:bodyPr wrap="square" lIns="275042" tIns="224242" rIns="0" bIns="198842" rtlCol="0" anchor="t">
            <a:normAutofit/>
          </a:bodyPr>
          <a:lstStyle/>
          <a:p>
            <a:pPr algn="l" indent="0" marL="0">
              <a:lnSpc>
                <a:spcPts val="2635"/>
              </a:lnSpc>
              <a:buNone/>
            </a:pPr>
            <a:r>
              <a:rPr lang="en-US" sz="1700" dirty="0">
                <a:solidFill>
                  <a:srgbClr val="F0A35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const</a:t>
            </a:r>
            <a:r>
              <a:rPr lang="en-US" sz="17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verd = [</a:t>
            </a:r>
            <a:r>
              <a:rPr lang="en-US" sz="1700" dirty="0">
                <a:solidFill>
                  <a:srgbClr val="7FB2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1290</a:t>
            </a:r>
            <a:r>
              <a:rPr lang="en-US" sz="17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, </a:t>
            </a:r>
            <a:r>
              <a:rPr lang="en-US" sz="1700" dirty="0">
                <a:solidFill>
                  <a:srgbClr val="7FB2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450</a:t>
            </a:r>
            <a:r>
              <a:rPr lang="en-US" sz="17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, </a:t>
            </a:r>
            <a:r>
              <a:rPr lang="en-US" sz="1700" dirty="0">
                <a:solidFill>
                  <a:srgbClr val="7FB2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3990</a:t>
            </a:r>
            <a:r>
              <a:rPr lang="en-US" sz="17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];</a:t>
            </a:r>
            <a:endParaRPr lang="en-US" sz="1700" dirty="0"/>
          </a:p>
          <a:p>
            <a:pPr algn="l" indent="0" marL="0">
              <a:lnSpc>
                <a:spcPts val="2635"/>
              </a:lnSpc>
              <a:buNone/>
            </a:pPr>
            <a:r>
              <a:rPr lang="en-US" sz="1700" dirty="0">
                <a:solidFill>
                  <a:srgbClr val="F0A35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const</a:t>
            </a:r>
            <a:r>
              <a:rPr lang="en-US" sz="17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summa = verd.</a:t>
            </a:r>
            <a:r>
              <a:rPr lang="en-US" sz="1700" dirty="0">
                <a:solidFill>
                  <a:srgbClr val="E8C9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reduce</a:t>
            </a:r>
            <a:r>
              <a:rPr lang="en-US" sz="17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((</a:t>
            </a:r>
            <a:r>
              <a:rPr lang="en-US" sz="1700" dirty="0">
                <a:solidFill>
                  <a:srgbClr val="F08A3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samtals</a:t>
            </a:r>
            <a:r>
              <a:rPr lang="en-US" sz="17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, </a:t>
            </a:r>
            <a:r>
              <a:rPr lang="en-US" sz="1700" dirty="0">
                <a:solidFill>
                  <a:srgbClr val="7FB2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</a:t>
            </a:r>
            <a:r>
              <a:rPr lang="en-US" sz="17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) =&gt; </a:t>
            </a:r>
            <a:r>
              <a:rPr lang="en-US" sz="1700" dirty="0">
                <a:solidFill>
                  <a:srgbClr val="F08A3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samtals</a:t>
            </a:r>
            <a:r>
              <a:rPr lang="en-US" sz="17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+ </a:t>
            </a:r>
            <a:r>
              <a:rPr lang="en-US" sz="1700" dirty="0">
                <a:solidFill>
                  <a:srgbClr val="7FB2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</a:t>
            </a:r>
            <a:r>
              <a:rPr lang="en-US" sz="17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, </a:t>
            </a:r>
            <a:r>
              <a:rPr lang="en-US" sz="1700" dirty="0">
                <a:solidFill>
                  <a:srgbClr val="4CC9A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</a:t>
            </a:r>
            <a:r>
              <a:rPr lang="en-US" sz="17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);</a:t>
            </a:r>
            <a:endParaRPr lang="en-US" sz="1700" dirty="0"/>
          </a:p>
          <a:p>
            <a:pPr algn="l" indent="0" marL="0">
              <a:lnSpc>
                <a:spcPts val="2635"/>
              </a:lnSpc>
              <a:buNone/>
            </a:pPr>
            <a:r>
              <a:rPr lang="en-US" sz="1700" dirty="0">
                <a:solidFill>
                  <a:srgbClr val="7D8799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5730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15975" y="3419773"/>
            <a:ext cx="2520950" cy="1374477"/>
          </a:xfrm>
          <a:prstGeom prst="roundRect">
            <a:avLst>
              <a:gd name="adj" fmla="val 7161"/>
            </a:avLst>
          </a:prstGeom>
          <a:solidFill>
            <a:srgbClr val="FDFCF9"/>
          </a:solidFill>
          <a:ln w="6350">
            <a:solidFill>
              <a:srgbClr val="E2DE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6950" y="3600748"/>
            <a:ext cx="222377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85A1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samtals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6950" y="3895328"/>
            <a:ext cx="2223770" cy="504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Það sem búið er að safna hingað til.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95675" y="3419773"/>
            <a:ext cx="2520950" cy="1374477"/>
          </a:xfrm>
          <a:prstGeom prst="roundRect">
            <a:avLst>
              <a:gd name="adj" fmla="val 7161"/>
            </a:avLst>
          </a:prstGeom>
          <a:solidFill>
            <a:srgbClr val="FDFCF9"/>
          </a:solidFill>
          <a:ln w="6350">
            <a:solidFill>
              <a:srgbClr val="E2DE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76650" y="3600748"/>
            <a:ext cx="222377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A5DB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76650" y="3895328"/>
            <a:ext cx="2336800" cy="26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Stakið sem við erum á núna.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75375" y="3419773"/>
            <a:ext cx="2520950" cy="1374477"/>
          </a:xfrm>
          <a:prstGeom prst="roundRect">
            <a:avLst>
              <a:gd name="adj" fmla="val 7161"/>
            </a:avLst>
          </a:prstGeom>
          <a:solidFill>
            <a:srgbClr val="FDFCF9"/>
          </a:solidFill>
          <a:ln w="6350">
            <a:solidFill>
              <a:srgbClr val="E2DE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6350" y="3600748"/>
            <a:ext cx="222377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C223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samtals + v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56350" y="3895328"/>
            <a:ext cx="2223770" cy="743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Það sem function skilar verður samtals í næstu umferð.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855075" y="3419773"/>
            <a:ext cx="2520950" cy="1374477"/>
          </a:xfrm>
          <a:prstGeom prst="roundRect">
            <a:avLst>
              <a:gd name="adj" fmla="val 7161"/>
            </a:avLst>
          </a:prstGeom>
          <a:solidFill>
            <a:srgbClr val="FDFCF9"/>
          </a:solidFill>
          <a:ln w="6350">
            <a:solidFill>
              <a:srgbClr val="E2DE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36050" y="3600748"/>
            <a:ext cx="222377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E7F6B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036050" y="3895328"/>
            <a:ext cx="2223770" cy="504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Upphafsgildið. Með hverju byrjar samtals?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2800" y="5051425"/>
            <a:ext cx="10883392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3E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og filter skila fylki. reduce skilar </a:t>
            </a:r>
            <a:r>
              <a:rPr lang="en-US" sz="1500" b="1" dirty="0">
                <a:solidFill>
                  <a:srgbClr val="3E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einu gildi</a:t>
            </a:r>
            <a:r>
              <a:rPr lang="en-US" sz="1500" dirty="0">
                <a:solidFill>
                  <a:srgbClr val="3E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summu, hæstu tölu, lengsta orði …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604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E7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FILTER, FIND &amp; REDUCE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9499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Rekjum okkur í gegn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650901"/>
            <a:ext cx="5130800" cy="2113161"/>
          </a:xfrm>
          <a:prstGeom prst="roundRect">
            <a:avLst>
              <a:gd name="adj" fmla="val 4808"/>
            </a:avLst>
          </a:prstGeom>
          <a:solidFill>
            <a:srgbClr val="1E2433"/>
          </a:solidFill>
          <a:ln/>
        </p:spPr>
        <p:txBody>
          <a:bodyPr wrap="square" lIns="224242" tIns="173442" rIns="85558" bIns="148042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F0A35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const</a:t>
            </a:r>
            <a:r>
              <a:rPr lang="en-US" sz="14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verd = [</a:t>
            </a:r>
            <a:r>
              <a:rPr lang="en-US" sz="1400" dirty="0">
                <a:solidFill>
                  <a:srgbClr val="7FB2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1290</a:t>
            </a:r>
            <a:r>
              <a:rPr lang="en-US" sz="14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, </a:t>
            </a:r>
            <a:r>
              <a:rPr lang="en-US" sz="1400" dirty="0">
                <a:solidFill>
                  <a:srgbClr val="7FB2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450</a:t>
            </a:r>
            <a:r>
              <a:rPr lang="en-US" sz="14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, </a:t>
            </a:r>
            <a:r>
              <a:rPr lang="en-US" sz="1400" dirty="0">
                <a:solidFill>
                  <a:srgbClr val="7FB2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3990</a:t>
            </a:r>
            <a:r>
              <a:rPr lang="en-US" sz="14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];</a:t>
            </a:r>
            <a:endParaRPr lang="en-US" sz="1400" dirty="0"/>
          </a:p>
          <a:p>
            <a:pPr algn="l" indent="0" marL="0">
              <a:lnSpc>
                <a:spcPts val="2240"/>
              </a:lnSpc>
              <a:buNone/>
            </a:pPr>
            <a:endParaRPr lang="en-US" sz="14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F0A35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const</a:t>
            </a:r>
            <a:r>
              <a:rPr lang="en-US" sz="14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summa = verd.</a:t>
            </a:r>
            <a:r>
              <a:rPr lang="en-US" sz="1400" dirty="0">
                <a:solidFill>
                  <a:srgbClr val="E8C9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reduce</a:t>
            </a:r>
            <a:r>
              <a:rPr lang="en-US" sz="14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</a:t>
            </a:r>
            <a:endParaRPr lang="en-US" sz="14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(samtals, v) =&gt; samtals + v,</a:t>
            </a:r>
            <a:endParaRPr lang="en-US" sz="14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</a:t>
            </a:r>
            <a:r>
              <a:rPr lang="en-US" sz="1400" dirty="0">
                <a:solidFill>
                  <a:srgbClr val="7FB2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</a:t>
            </a:r>
            <a:endParaRPr lang="en-US" sz="14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);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3941862"/>
            <a:ext cx="5284724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E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Sama mynstur og síðast: </a:t>
            </a:r>
            <a:r>
              <a:rPr lang="en-US" sz="1400" b="1" dirty="0">
                <a:solidFill>
                  <a:srgbClr val="3E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summa = 0</a:t>
            </a:r>
            <a:r>
              <a:rPr lang="en-US" sz="1400" dirty="0">
                <a:solidFill>
                  <a:srgbClr val="3E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fyrir ofan loopuna, </a:t>
            </a:r>
            <a:r>
              <a:rPr lang="en-US" sz="1400" b="1" dirty="0">
                <a:solidFill>
                  <a:srgbClr val="3E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 += tala</a:t>
            </a:r>
            <a:r>
              <a:rPr lang="en-US" sz="1400" dirty="0">
                <a:solidFill>
                  <a:srgbClr val="3E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inni í henni. reduce gerir það í einni línu.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48400" y="1650901"/>
            <a:ext cx="5130800" cy="2375495"/>
          </a:xfrm>
          <a:prstGeom prst="rect">
            <a:avLst/>
          </a:prstGeom>
          <a:solidFill>
            <a:srgbClr val="FDFCF9"/>
          </a:solidFill>
          <a:ln/>
        </p:spPr>
      </p:sp>
      <p:sp>
        <p:nvSpPr>
          <p:cNvPr id="7" name="Shape 5"/>
          <p:cNvSpPr/>
          <p:nvPr/>
        </p:nvSpPr>
        <p:spPr>
          <a:xfrm>
            <a:off x="11376025" y="1650901"/>
            <a:ext cx="0" cy="2375495"/>
          </a:xfrm>
          <a:prstGeom prst="line">
            <a:avLst/>
          </a:prstGeom>
          <a:noFill/>
          <a:ln w="6350">
            <a:solidFill>
              <a:srgbClr val="D9D4C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48400" y="4023221"/>
            <a:ext cx="5130800" cy="0"/>
          </a:xfrm>
          <a:prstGeom prst="line">
            <a:avLst/>
          </a:prstGeom>
          <a:noFill/>
          <a:ln w="6350">
            <a:solidFill>
              <a:srgbClr val="D9D4C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48400" y="1657251"/>
            <a:ext cx="5130800" cy="0"/>
          </a:xfrm>
          <a:prstGeom prst="line">
            <a:avLst/>
          </a:prstGeom>
          <a:noFill/>
          <a:ln w="12700">
            <a:solidFill>
              <a:srgbClr val="141413">
                <a:alpha val="2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54750" y="1650901"/>
            <a:ext cx="0" cy="2375495"/>
          </a:xfrm>
          <a:prstGeom prst="line">
            <a:avLst/>
          </a:prstGeom>
          <a:noFill/>
          <a:ln w="12700">
            <a:solidFill>
              <a:srgbClr val="141413">
                <a:alpha val="22000"/>
              </a:srgbClr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8100" y="1752501"/>
          <a:ext cx="4857750" cy="2178645"/>
        </p:xfrm>
        <a:graphic>
          <a:graphicData uri="http://schemas.openxmlformats.org/drawingml/2006/table">
            <a:tbl>
              <a:tblPr/>
              <a:tblGrid>
                <a:gridCol w="1360170"/>
                <a:gridCol w="1263015"/>
                <a:gridCol w="971550"/>
                <a:gridCol w="1263015"/>
              </a:tblGrid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C22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Umferð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C22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samtals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C22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C22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skilar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D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1290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1290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1290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1740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1740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3990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5730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4802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Búið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8B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5730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8B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8B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summa = 5730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8B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604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E7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FILTER, FIND &amp; REDUCE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9499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Keðjur: filter → map → reduce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650901"/>
            <a:ext cx="10566400" cy="2228850"/>
          </a:xfrm>
          <a:prstGeom prst="roundRect">
            <a:avLst>
              <a:gd name="adj" fmla="val 4558"/>
            </a:avLst>
          </a:prstGeom>
          <a:solidFill>
            <a:srgbClr val="1E2433"/>
          </a:solidFill>
          <a:ln/>
        </p:spPr>
        <p:txBody>
          <a:bodyPr wrap="square" lIns="249642" tIns="198842" rIns="0" bIns="173442" rtlCol="0" anchor="t">
            <a:normAutofit/>
          </a:bodyPr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7D8799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vorur: Mjólk 229, Brauð 649, Ostur 1890, Epli 399, Kaffi 1490, Súkkulaði 349</a:t>
            </a: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F0A35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const</a:t>
            </a:r>
            <a:r>
              <a:rPr lang="en-US" sz="15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samtals = vorur</a:t>
            </a: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.</a:t>
            </a:r>
            <a:r>
              <a:rPr lang="en-US" sz="1500" dirty="0">
                <a:solidFill>
                  <a:srgbClr val="E8C9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filter</a:t>
            </a:r>
            <a:r>
              <a:rPr lang="en-US" sz="15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((v) =&gt; v.verd &lt; </a:t>
            </a:r>
            <a:r>
              <a:rPr lang="en-US" sz="1500" dirty="0">
                <a:solidFill>
                  <a:srgbClr val="7FB2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1000</a:t>
            </a:r>
            <a:r>
              <a:rPr lang="en-US" sz="15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)    </a:t>
            </a:r>
            <a:r>
              <a:rPr lang="en-US" sz="1500" dirty="0">
                <a:solidFill>
                  <a:srgbClr val="7D8799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ódýrari en 1000 kr.</a:t>
            </a: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.</a:t>
            </a:r>
            <a:r>
              <a:rPr lang="en-US" sz="1500" dirty="0">
                <a:solidFill>
                  <a:srgbClr val="E8C9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map</a:t>
            </a:r>
            <a:r>
              <a:rPr lang="en-US" sz="15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((v) =&gt; v.verd)              </a:t>
            </a:r>
            <a:r>
              <a:rPr lang="en-US" sz="1500" dirty="0">
                <a:solidFill>
                  <a:srgbClr val="7D8799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bara verðin</a:t>
            </a: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.</a:t>
            </a:r>
            <a:r>
              <a:rPr lang="en-US" sz="1500" dirty="0">
                <a:solidFill>
                  <a:srgbClr val="E8C9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reduce</a:t>
            </a:r>
            <a:r>
              <a:rPr lang="en-US" sz="15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((s, x) =&gt; s + x, </a:t>
            </a:r>
            <a:r>
              <a:rPr lang="en-US" sz="1500" dirty="0">
                <a:solidFill>
                  <a:srgbClr val="7FB2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</a:t>
            </a:r>
            <a:r>
              <a:rPr lang="en-US" sz="15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);     </a:t>
            </a:r>
            <a:r>
              <a:rPr lang="en-US" sz="1500" dirty="0">
                <a:solidFill>
                  <a:srgbClr val="7D8799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lagt saman</a:t>
            </a: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7D8799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1626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15975" y="4136926"/>
            <a:ext cx="3109317" cy="821630"/>
          </a:xfrm>
          <a:prstGeom prst="roundRect">
            <a:avLst>
              <a:gd name="adj" fmla="val 11979"/>
            </a:avLst>
          </a:prstGeom>
          <a:solidFill>
            <a:srgbClr val="FDFCF9"/>
          </a:solidFill>
          <a:ln w="6350">
            <a:solidFill>
              <a:srgbClr val="E2DE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6950" y="4292501"/>
            <a:ext cx="28297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E7F6B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filter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96950" y="4571901"/>
            <a:ext cx="282978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vörur → 4 vörur</a:t>
            </a:r>
            <a:endParaRPr lang="en-US" sz="1300" dirty="0"/>
          </a:p>
        </p:txBody>
      </p:sp>
      <p:pic>
        <p:nvPicPr>
          <p:cNvPr id="8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55467" y="4458791"/>
            <a:ext cx="355600" cy="1778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41242" y="4136926"/>
            <a:ext cx="3109416" cy="821630"/>
          </a:xfrm>
          <a:prstGeom prst="roundRect">
            <a:avLst>
              <a:gd name="adj" fmla="val 11979"/>
            </a:avLst>
          </a:prstGeom>
          <a:solidFill>
            <a:srgbClr val="FDFCF9"/>
          </a:solidFill>
          <a:ln w="6350">
            <a:solidFill>
              <a:srgbClr val="E2DED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22217" y="4292501"/>
            <a:ext cx="282989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A5DB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map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722217" y="4571901"/>
            <a:ext cx="282989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vörur → 4 tölur</a:t>
            </a:r>
            <a:endParaRPr lang="en-US" sz="1300" dirty="0"/>
          </a:p>
        </p:txBody>
      </p:sp>
      <p:pic>
        <p:nvPicPr>
          <p:cNvPr id="12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780834" y="4458791"/>
            <a:ext cx="355600" cy="1778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8266609" y="4136926"/>
            <a:ext cx="3109416" cy="821630"/>
          </a:xfrm>
          <a:prstGeom prst="roundRect">
            <a:avLst>
              <a:gd name="adj" fmla="val 11979"/>
            </a:avLst>
          </a:prstGeom>
          <a:solidFill>
            <a:srgbClr val="FDFCF9"/>
          </a:solidFill>
          <a:ln w="6350">
            <a:solidFill>
              <a:srgbClr val="E2DED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447584" y="4292501"/>
            <a:ext cx="282989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E7F6B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reduce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8447584" y="4571901"/>
            <a:ext cx="282989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tölur → 1626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812800" y="5215731"/>
            <a:ext cx="10883392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3E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og map skila fylki, svo það má kalla beint á næstu aðferð. Lesið ofan frá og niður, eins og uppskrift.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8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arni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665460"/>
            <a:ext cx="203200" cy="203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2200" y="660400"/>
            <a:ext cx="75104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VARÚÐ</a:t>
            </a:r>
            <a:endParaRPr lang="en-US" sz="12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9499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Þrjár algengar villur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812800" y="1650901"/>
            <a:ext cx="3523081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{ } án return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12800" y="2001341"/>
            <a:ext cx="3420467" cy="1676202"/>
          </a:xfrm>
          <a:prstGeom prst="roundRect">
            <a:avLst>
              <a:gd name="adj" fmla="val 6061"/>
            </a:avLst>
          </a:prstGeom>
          <a:solidFill>
            <a:srgbClr val="1E2433"/>
          </a:solidFill>
          <a:ln/>
        </p:spPr>
        <p:txBody>
          <a:bodyPr wrap="square" lIns="173442" tIns="148042" rIns="83020" bIns="148042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tolur.</a:t>
            </a:r>
            <a:r>
              <a:rPr lang="en-US" sz="1300" dirty="0">
                <a:solidFill>
                  <a:srgbClr val="E8C9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map</a:t>
            </a:r>
            <a:r>
              <a:rPr lang="en-US" sz="13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((x) =&gt; {</a:t>
            </a:r>
            <a:endParaRPr lang="en-US" sz="13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x * </a:t>
            </a:r>
            <a:r>
              <a:rPr lang="en-US" sz="1300" dirty="0">
                <a:solidFill>
                  <a:srgbClr val="7FB2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2</a:t>
            </a:r>
            <a:r>
              <a:rPr lang="en-US" sz="13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;</a:t>
            </a:r>
            <a:endParaRPr lang="en-US" sz="13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});</a:t>
            </a:r>
            <a:endParaRPr lang="en-US" sz="13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F08A3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[undefined, …]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385667" y="1650901"/>
            <a:ext cx="352318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Gleymt upphafsgildi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385667" y="2001341"/>
            <a:ext cx="3420566" cy="1676202"/>
          </a:xfrm>
          <a:prstGeom prst="roundRect">
            <a:avLst>
              <a:gd name="adj" fmla="val 6061"/>
            </a:avLst>
          </a:prstGeom>
          <a:solidFill>
            <a:srgbClr val="1E2433"/>
          </a:solidFill>
          <a:ln/>
        </p:spPr>
        <p:txBody>
          <a:bodyPr wrap="square" lIns="173442" tIns="148042" rIns="83017" bIns="122642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[].</a:t>
            </a:r>
            <a:r>
              <a:rPr lang="en-US" sz="1300" dirty="0">
                <a:solidFill>
                  <a:srgbClr val="E8C9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reduce</a:t>
            </a:r>
            <a:r>
              <a:rPr lang="en-US" sz="13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((s, x) =&gt;</a:t>
            </a:r>
            <a:endParaRPr lang="en-US" sz="13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s + x);</a:t>
            </a:r>
            <a:endParaRPr lang="en-US" sz="13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F08A3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TypeError: Reduce</a:t>
            </a:r>
            <a:endParaRPr lang="en-US" sz="13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F08A3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of empty array with</a:t>
            </a:r>
            <a:endParaRPr lang="en-US" sz="13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F08A3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no initial value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958634" y="1650901"/>
            <a:ext cx="352318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Svarinu hent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958634" y="2001341"/>
            <a:ext cx="3420566" cy="1676202"/>
          </a:xfrm>
          <a:prstGeom prst="roundRect">
            <a:avLst>
              <a:gd name="adj" fmla="val 6061"/>
            </a:avLst>
          </a:prstGeom>
          <a:solidFill>
            <a:srgbClr val="1E2433"/>
          </a:solidFill>
          <a:ln/>
        </p:spPr>
        <p:txBody>
          <a:bodyPr wrap="square" lIns="173442" tIns="148042" rIns="83017" bIns="122642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tolur.</a:t>
            </a:r>
            <a:r>
              <a:rPr lang="en-US" sz="1300" dirty="0">
                <a:solidFill>
                  <a:srgbClr val="E8C9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map</a:t>
            </a:r>
            <a:r>
              <a:rPr lang="en-US" sz="13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((x) =&gt; x * </a:t>
            </a:r>
            <a:r>
              <a:rPr lang="en-US" sz="1300" dirty="0">
                <a:solidFill>
                  <a:srgbClr val="7FB2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2</a:t>
            </a:r>
            <a:r>
              <a:rPr lang="en-US" sz="13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);</a:t>
            </a:r>
            <a:endParaRPr lang="en-US" sz="13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console.log(tolur);</a:t>
            </a:r>
            <a:endParaRPr lang="en-US" sz="13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F08A3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óbreytt!</a:t>
            </a:r>
            <a:endParaRPr lang="en-US" sz="13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7D8799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geymið svarið:</a:t>
            </a:r>
            <a:endParaRPr lang="en-US" sz="13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F0A35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const</a:t>
            </a:r>
            <a:r>
              <a:rPr lang="en-US" sz="13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ny = tolur.</a:t>
            </a:r>
            <a:r>
              <a:rPr lang="en-US" sz="1300" dirty="0">
                <a:solidFill>
                  <a:srgbClr val="E8C9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map</a:t>
            </a:r>
            <a:r>
              <a:rPr lang="en-US" sz="13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(…)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12800" y="3931543"/>
            <a:ext cx="10883392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Spyrjið alltaf: hvað </a:t>
            </a:r>
            <a:r>
              <a:rPr lang="en-US" sz="1500" b="1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skilar</a:t>
            </a:r>
            <a:r>
              <a:rPr lang="en-US" sz="1500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þessi aðferð? Nýju fylki, einu staki eða einu gildi?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604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E7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YFIRLIT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9499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Hvaða aðferð á ég að nota?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650901"/>
            <a:ext cx="10566400" cy="3106738"/>
          </a:xfrm>
          <a:prstGeom prst="rect">
            <a:avLst/>
          </a:prstGeom>
          <a:solidFill>
            <a:srgbClr val="FDFCF9"/>
          </a:solidFill>
          <a:ln/>
        </p:spPr>
      </p:sp>
      <p:sp>
        <p:nvSpPr>
          <p:cNvPr id="5" name="Shape 3"/>
          <p:cNvSpPr/>
          <p:nvPr/>
        </p:nvSpPr>
        <p:spPr>
          <a:xfrm>
            <a:off x="11376025" y="1650901"/>
            <a:ext cx="0" cy="3106738"/>
          </a:xfrm>
          <a:prstGeom prst="line">
            <a:avLst/>
          </a:prstGeom>
          <a:noFill/>
          <a:ln w="6350">
            <a:solidFill>
              <a:srgbClr val="D9D4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2800" y="4754463"/>
            <a:ext cx="10566400" cy="0"/>
          </a:xfrm>
          <a:prstGeom prst="line">
            <a:avLst/>
          </a:prstGeom>
          <a:noFill/>
          <a:ln w="6350">
            <a:solidFill>
              <a:srgbClr val="D9D4C7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663601"/>
          <a:ext cx="10547350" cy="3087688"/>
        </p:xfrm>
        <a:graphic>
          <a:graphicData uri="http://schemas.openxmlformats.org/drawingml/2006/table">
            <a:tbl>
              <a:tblPr/>
              <a:tblGrid>
                <a:gridCol w="1898523"/>
                <a:gridCol w="4007993"/>
                <a:gridCol w="2953258"/>
                <a:gridCol w="1687576"/>
              </a:tblGrid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C22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Aðferð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C22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Hvað gerir hún?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C22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Skilar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C22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Breytir fylkinu?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D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push / pop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Bætir við / tekur af aftast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lengd / stakinu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Já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includes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Athugar hvort stak er til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true / false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Nei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forEach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Gerir eitthvað fyrir hvert stak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engu (undefined)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Nei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map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Breytir hverju staki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nýju fylki, sama lengd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Nei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filter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Velur stök sem passa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nýju fylki, oft styttra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Nei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Finnur fyrsta sem passar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einu staki eða undefined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Nei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reduce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Safnar öllu saman í eitt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einu gildi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Nei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12800" y="5011638"/>
            <a:ext cx="10883392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3E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Þumalputtaregla: viltu </a:t>
            </a:r>
            <a:r>
              <a:rPr lang="en-US" sz="1500" b="1" dirty="0">
                <a:solidFill>
                  <a:srgbClr val="3E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nýtt fylki</a:t>
            </a:r>
            <a:r>
              <a:rPr lang="en-US" sz="1500" dirty="0">
                <a:solidFill>
                  <a:srgbClr val="3E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 map eða filter. Viltu </a:t>
            </a:r>
            <a:r>
              <a:rPr lang="en-US" sz="1500" b="1" dirty="0">
                <a:solidFill>
                  <a:srgbClr val="3E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eitt svar</a:t>
            </a:r>
            <a:r>
              <a:rPr lang="en-US" sz="1500" dirty="0">
                <a:solidFill>
                  <a:srgbClr val="3E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 find eða reduce.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8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604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TÍMAVERKEFNI · ÞIÐ EIN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9499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Opnið timaverkefni.html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701701"/>
            <a:ext cx="544169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1600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 Nafnalisti · push, pop, includes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096000" y="1701701"/>
            <a:ext cx="544169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r>
              <a:rPr lang="en-US" sz="1600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 Einkunnir · reduce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" y="1986161"/>
            <a:ext cx="544169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600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 Verð með VSK · map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96000" y="1986161"/>
            <a:ext cx="544169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r>
              <a:rPr lang="en-US" sz="1600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 Vörulisti · filter + map + reduce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2800" y="2270621"/>
            <a:ext cx="544169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1600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 Listi á síðuna · map + join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96000" y="2270621"/>
            <a:ext cx="544169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r>
              <a:rPr lang="en-US" sz="1600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 Orðagreining · aukaáskorun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2800" y="2555081"/>
            <a:ext cx="544169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r>
              <a:rPr lang="en-US" sz="1600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 Sía tölur · filter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2800" y="3144341"/>
            <a:ext cx="10566400" cy="673100"/>
          </a:xfrm>
          <a:prstGeom prst="roundRect">
            <a:avLst>
              <a:gd name="adj" fmla="val 15094"/>
            </a:avLst>
          </a:prstGeom>
          <a:solidFill>
            <a:srgbClr val="1C2230"/>
          </a:solidFill>
          <a:ln/>
        </p:spPr>
        <p:txBody>
          <a:bodyPr wrap="square" lIns="224242" tIns="173442" rIns="0" bIns="148042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Festist þið?</a:t>
            </a:r>
            <a:r>
              <a:rPr lang="en-US" sz="1400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1. Lesið villuna í console. 2. Bætið við console.log til að sjá gildin. 3. Spyrjið sessunautinn. 4. Réttið upp hönd.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2800" y="4122241"/>
            <a:ext cx="10883392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Reglan í dag: reynið map, filter og reduce </a:t>
            </a:r>
            <a:r>
              <a:rPr lang="en-US" sz="1400" b="1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áður</a:t>
            </a:r>
            <a:r>
              <a:rPr lang="en-US" sz="1400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 þið grípið í for-loopu.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C2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604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SAMANTEKT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9499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Það sem við lærðum í dag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752501"/>
            <a:ext cx="3420467" cy="1697831"/>
          </a:xfrm>
          <a:prstGeom prst="roundRect">
            <a:avLst>
              <a:gd name="adj" fmla="val 5984"/>
            </a:avLst>
          </a:prstGeom>
          <a:solidFill>
            <a:srgbClr val="262D3D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752501"/>
            <a:ext cx="3420467" cy="1697831"/>
          </a:xfrm>
          <a:custGeom>
            <a:avLst/>
            <a:gdLst/>
            <a:ahLst/>
            <a:cxnLst/>
            <a:rect l="l" t="t" r="r" b="b"/>
            <a:pathLst>
              <a:path w="3420467" h="1697831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318867" y="0"/>
                </a:lnTo>
                <a:arcTo hR="101600" wR="101600" stAng="16200000" swAng="5400000"/>
                <a:lnTo>
                  <a:pt x="3420467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F08A3C"/>
          </a:solidFill>
          <a:ln/>
        </p:spPr>
      </p:sp>
      <p:sp>
        <p:nvSpPr>
          <p:cNvPr id="6" name="Text 4"/>
          <p:cNvSpPr/>
          <p:nvPr/>
        </p:nvSpPr>
        <p:spPr>
          <a:xfrm>
            <a:off x="1041400" y="2019201"/>
            <a:ext cx="305216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0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41400" y="2400201"/>
            <a:ext cx="305216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Geyma marga hluti.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41400" y="2743101"/>
            <a:ext cx="3052165" cy="504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FC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byrjar í 0. push og pop breyta fylkinu, includes og indexOf leita í því.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5667" y="1752501"/>
            <a:ext cx="3420566" cy="1697831"/>
          </a:xfrm>
          <a:prstGeom prst="roundRect">
            <a:avLst>
              <a:gd name="adj" fmla="val 5984"/>
            </a:avLst>
          </a:prstGeom>
          <a:solidFill>
            <a:srgbClr val="262D3D"/>
          </a:solidFill>
          <a:ln/>
        </p:spPr>
      </p:sp>
      <p:sp>
        <p:nvSpPr>
          <p:cNvPr id="10" name="Shape 8"/>
          <p:cNvSpPr/>
          <p:nvPr/>
        </p:nvSpPr>
        <p:spPr>
          <a:xfrm>
            <a:off x="4385667" y="1752501"/>
            <a:ext cx="3420566" cy="1697831"/>
          </a:xfrm>
          <a:custGeom>
            <a:avLst/>
            <a:gdLst/>
            <a:ahLst/>
            <a:cxnLst/>
            <a:rect l="l" t="t" r="r" b="b"/>
            <a:pathLst>
              <a:path w="3420566" h="1697831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318966" y="0"/>
                </a:lnTo>
                <a:arcTo hR="101600" wR="101600" stAng="16200000" swAng="5400000"/>
                <a:lnTo>
                  <a:pt x="3420566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6FA0F0"/>
          </a:solidFill>
          <a:ln/>
        </p:spPr>
      </p:sp>
      <p:sp>
        <p:nvSpPr>
          <p:cNvPr id="11" name="Text 9"/>
          <p:cNvSpPr/>
          <p:nvPr/>
        </p:nvSpPr>
        <p:spPr>
          <a:xfrm>
            <a:off x="4614267" y="2019201"/>
            <a:ext cx="305226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6FA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forEach &amp; map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14267" y="2400201"/>
            <a:ext cx="305226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 eitthvað við hvert stak.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14267" y="2743101"/>
            <a:ext cx="3052267" cy="504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FC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skilar nýju fylki af sömu lengd. Með { } þarf return.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958634" y="1752501"/>
            <a:ext cx="3420566" cy="1697831"/>
          </a:xfrm>
          <a:prstGeom prst="roundRect">
            <a:avLst>
              <a:gd name="adj" fmla="val 5984"/>
            </a:avLst>
          </a:prstGeom>
          <a:solidFill>
            <a:srgbClr val="262D3D"/>
          </a:solidFill>
          <a:ln/>
        </p:spPr>
      </p:sp>
      <p:sp>
        <p:nvSpPr>
          <p:cNvPr id="15" name="Shape 13"/>
          <p:cNvSpPr/>
          <p:nvPr/>
        </p:nvSpPr>
        <p:spPr>
          <a:xfrm>
            <a:off x="7958634" y="1752501"/>
            <a:ext cx="3420566" cy="1697831"/>
          </a:xfrm>
          <a:custGeom>
            <a:avLst/>
            <a:gdLst/>
            <a:ahLst/>
            <a:cxnLst/>
            <a:rect l="l" t="t" r="r" b="b"/>
            <a:pathLst>
              <a:path w="3420566" h="1697831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318966" y="0"/>
                </a:lnTo>
                <a:arcTo hR="101600" wR="101600" stAng="16200000" swAng="5400000"/>
                <a:lnTo>
                  <a:pt x="3420566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4CC9A6"/>
          </a:solidFill>
          <a:ln/>
        </p:spPr>
      </p:sp>
      <p:sp>
        <p:nvSpPr>
          <p:cNvPr id="16" name="Text 14"/>
          <p:cNvSpPr/>
          <p:nvPr/>
        </p:nvSpPr>
        <p:spPr>
          <a:xfrm>
            <a:off x="8187234" y="2019201"/>
            <a:ext cx="305226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4CC9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filter, find &amp; reduce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187234" y="2400201"/>
            <a:ext cx="305226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Velja úr og safna saman.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187234" y="2743101"/>
            <a:ext cx="3052267" cy="504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FC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heldur því sem er true, find skilar einu staki, reduce skilar einu gildi.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rays, map, filter &amp; reduce">
  <a:themeElements>
    <a:clrScheme name="Arrays, map, filter &amp; reduce">
      <a:dk1>
        <a:srgbClr val="1C2230"/>
      </a:dk1>
      <a:lt1>
        <a:srgbClr val="F6F4EE"/>
      </a:lt1>
      <a:dk2>
        <a:srgbClr val="535760"/>
      </a:dk2>
      <a:lt2>
        <a:srgbClr val="E0DFDB"/>
      </a:lt2>
      <a:accent1>
        <a:srgbClr val="B85A12"/>
      </a:accent1>
      <a:accent2>
        <a:srgbClr val="1E7F6B"/>
      </a:accent2>
      <a:accent3>
        <a:srgbClr val="2A5DB8"/>
      </a:accent3>
      <a:accent4>
        <a:srgbClr val="F08A3C"/>
      </a:accent4>
      <a:accent5>
        <a:srgbClr val="6FA0F0"/>
      </a:accent5>
      <a:accent6>
        <a:srgbClr val="4CC9A6"/>
      </a:accent6>
      <a:hlink>
        <a:srgbClr val="0563C1"/>
      </a:hlink>
      <a:folHlink>
        <a:srgbClr val="954F72"/>
      </a:folHlink>
    </a:clrScheme>
    <a:fontScheme name="Arrays, map, filter &amp; redu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54D0D290EE21843A89FC2B90859F45F" ma:contentTypeVersion="10" ma:contentTypeDescription="Create a new document." ma:contentTypeScope="" ma:versionID="17bbdd189598665feccda3ddb02b82a3">
  <xsd:schema xmlns:xsd="http://www.w3.org/2001/XMLSchema" xmlns:xs="http://www.w3.org/2001/XMLSchema" xmlns:p="http://schemas.microsoft.com/office/2006/metadata/properties" xmlns:ns2="1ee873e2-0534-4531-b3e6-7fa863c0518f" xmlns:ns3="d4c2a839-a994-451b-805c-f519ecca7cb8" targetNamespace="http://schemas.microsoft.com/office/2006/metadata/properties" ma:root="true" ma:fieldsID="b8c310bbef8fd13ae1056d4f5b3a7802" ns2:_="" ns3:_="">
    <xsd:import namespace="1ee873e2-0534-4531-b3e6-7fa863c0518f"/>
    <xsd:import namespace="d4c2a839-a994-451b-805c-f519ecca7cb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e873e2-0534-4531-b3e6-7fa863c0518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e46187d0-8e88-4043-8801-0de0d0da5fc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c2a839-a994-451b-805c-f519ecca7cb8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1d1f8fac-d987-45f1-ab91-85b21b1d8cfd}" ma:internalName="TaxCatchAll" ma:showField="CatchAllData" ma:web="d4c2a839-a994-451b-805c-f519ecca7cb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ee873e2-0534-4531-b3e6-7fa863c0518f">
      <Terms xmlns="http://schemas.microsoft.com/office/infopath/2007/PartnerControls"/>
    </lcf76f155ced4ddcb4097134ff3c332f>
    <TaxCatchAll xmlns="d4c2a839-a994-451b-805c-f519ecca7cb8" xsi:nil="true"/>
  </documentManagement>
</p:properties>
</file>

<file path=customXml/itemProps1.xml><?xml version="1.0" encoding="utf-8"?>
<ds:datastoreItem xmlns:ds="http://schemas.openxmlformats.org/officeDocument/2006/customXml" ds:itemID="{13173A2E-C5ED-48B2-AA92-B91965F831A7}"/>
</file>

<file path=customXml/itemProps2.xml><?xml version="1.0" encoding="utf-8"?>
<ds:datastoreItem xmlns:ds="http://schemas.openxmlformats.org/officeDocument/2006/customXml" ds:itemID="{3CC11449-8316-4FEA-9746-EBC76D2F2464}"/>
</file>

<file path=customXml/itemProps3.xml><?xml version="1.0" encoding="utf-8"?>
<ds:datastoreItem xmlns:ds="http://schemas.openxmlformats.org/officeDocument/2006/customXml" ds:itemID="{CAA7AED2-15B5-4E6C-80B0-4A95653FADB6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Arrays, map, filter &amp; reduce</dc:title>
  <dc:subject/>
  <dc:creator/>
  <cp:lastModifiedBy/>
  <cp:revision>1</cp:revision>
  <dcterms:created xsi:type="dcterms:W3CDTF">2026-10-21T18:04:36Z</dcterms:created>
  <dcterms:modified xsi:type="dcterms:W3CDTF">2026-10-21T18:04:36Z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0x010100054D0D290EE21843A89FC2B90859F45F</vt:lpwstr>
  </property>
</Properties>
</file>